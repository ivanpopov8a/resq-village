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</p:sldIdLst>
  <p:sldSz cx="12192000" cy="6858000"/>
  <p:notesSz cx="6858000" cy="12192000"/>
  <p:embeddedFontLst>
    <p:embeddedFont>
      <p:font typeface="MiSans" pitchFamily="2" charset="-122"/>
      <p:regular r:id="rId11"/>
    </p:embeddedFont>
    <p:embeddedFont>
      <p:font typeface="Hedvig Letters Sans" pitchFamily="2" charset="77"/>
      <p:regular r:id="rId12"/>
    </p:embeddedFont>
  </p:embeddedFontLst>
  <p:defaultTextStyle>
    <a:defPPr>
      <a:defRPr lang="en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5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7133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4F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eflyingspaniard.com/c3c4d93eafa204090e4534c184aa87062a348f0d.jpg"/>
          <p:cNvPicPr>
            <a:picLocks noChangeAspect="1"/>
          </p:cNvPicPr>
          <p:nvPr/>
        </p:nvPicPr>
        <p:blipFill>
          <a:blip r:embed="rId3">
            <a:alphaModFix amt="40000"/>
          </a:blip>
          <a:srcRect t="12500" b="1250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A4F41">
                  <a:alpha val="95000"/>
                </a:srgbClr>
              </a:gs>
              <a:gs pos="50000">
                <a:srgbClr val="3A4F41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476375"/>
            <a:ext cx="3667125" cy="381000"/>
          </a:xfrm>
          <a:custGeom>
            <a:avLst/>
            <a:gdLst/>
            <a:ahLst/>
            <a:cxnLst/>
            <a:rect l="l" t="t" r="r" b="b"/>
            <a:pathLst>
              <a:path w="3667125" h="381000">
                <a:moveTo>
                  <a:pt x="190500" y="0"/>
                </a:moveTo>
                <a:lnTo>
                  <a:pt x="3476625" y="0"/>
                </a:lnTo>
                <a:cubicBezTo>
                  <a:pt x="3581765" y="0"/>
                  <a:pt x="3667125" y="85360"/>
                  <a:pt x="3667125" y="190500"/>
                </a:cubicBezTo>
                <a:lnTo>
                  <a:pt x="3667125" y="190500"/>
                </a:lnTo>
                <a:cubicBezTo>
                  <a:pt x="3667125" y="295640"/>
                  <a:pt x="3581765" y="381000"/>
                  <a:pt x="3476625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97B61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1552575"/>
            <a:ext cx="3362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F8F7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Проект за социална значимост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085975"/>
            <a:ext cx="8077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F8F7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ResQ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F8F7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Village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143375"/>
            <a:ext cx="1219200" cy="57150"/>
          </a:xfrm>
          <a:custGeom>
            <a:avLst/>
            <a:gdLst/>
            <a:ahLst/>
            <a:cxnLst/>
            <a:rect l="l" t="t" r="r" b="b"/>
            <a:pathLst>
              <a:path w="1219200" h="57150">
                <a:moveTo>
                  <a:pt x="0" y="0"/>
                </a:moveTo>
                <a:lnTo>
                  <a:pt x="1219200" y="0"/>
                </a:lnTo>
                <a:lnTo>
                  <a:pt x="12192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C97B61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505325"/>
            <a:ext cx="56292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F8F7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Дигитален щит за българските села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5114925"/>
            <a:ext cx="497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8F7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Никое село не трябва да остава само срещу кризата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1049000" y="15621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C97B61">
              <a:alpha val="2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11289506" y="18002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45442" y="0"/>
                  <a:pt x="148010" y="558"/>
                  <a:pt x="150354" y="1619"/>
                </a:cubicBezTo>
                <a:lnTo>
                  <a:pt x="255501" y="46211"/>
                </a:lnTo>
                <a:cubicBezTo>
                  <a:pt x="267779" y="51402"/>
                  <a:pt x="276932" y="63512"/>
                  <a:pt x="276876" y="78135"/>
                </a:cubicBezTo>
                <a:cubicBezTo>
                  <a:pt x="276597" y="133499"/>
                  <a:pt x="253826" y="234795"/>
                  <a:pt x="157665" y="280839"/>
                </a:cubicBezTo>
                <a:cubicBezTo>
                  <a:pt x="148344" y="285304"/>
                  <a:pt x="137517" y="285304"/>
                  <a:pt x="128197" y="280839"/>
                </a:cubicBezTo>
                <a:cubicBezTo>
                  <a:pt x="31979" y="234795"/>
                  <a:pt x="9265" y="133499"/>
                  <a:pt x="8985" y="78135"/>
                </a:cubicBezTo>
                <a:cubicBezTo>
                  <a:pt x="8930" y="63512"/>
                  <a:pt x="18083" y="51402"/>
                  <a:pt x="30361" y="46211"/>
                </a:cubicBezTo>
                <a:lnTo>
                  <a:pt x="135452" y="1619"/>
                </a:lnTo>
                <a:cubicBezTo>
                  <a:pt x="137796" y="558"/>
                  <a:pt x="140308" y="0"/>
                  <a:pt x="142875" y="0"/>
                </a:cubicBezTo>
                <a:close/>
                <a:moveTo>
                  <a:pt x="142875" y="37281"/>
                </a:moveTo>
                <a:lnTo>
                  <a:pt x="142875" y="248301"/>
                </a:lnTo>
                <a:cubicBezTo>
                  <a:pt x="219894" y="211020"/>
                  <a:pt x="240599" y="128420"/>
                  <a:pt x="241102" y="78972"/>
                </a:cubicBezTo>
                <a:lnTo>
                  <a:pt x="142875" y="37337"/>
                </a:lnTo>
                <a:lnTo>
                  <a:pt x="142875" y="37337"/>
                </a:lnTo>
                <a:close/>
              </a:path>
            </a:pathLst>
          </a:custGeom>
          <a:solidFill>
            <a:srgbClr val="C97B61"/>
          </a:solidFill>
          <a:ln/>
        </p:spPr>
      </p:sp>
      <p:sp>
        <p:nvSpPr>
          <p:cNvPr id="12" name="Shape 9"/>
          <p:cNvSpPr/>
          <p:nvPr/>
        </p:nvSpPr>
        <p:spPr>
          <a:xfrm>
            <a:off x="11049000" y="25527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C97B61">
              <a:alpha val="2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11253788" y="2790825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321469" y="26789"/>
                </a:moveTo>
                <a:cubicBezTo>
                  <a:pt x="321469" y="20594"/>
                  <a:pt x="318288" y="14846"/>
                  <a:pt x="312986" y="11609"/>
                </a:cubicBezTo>
                <a:cubicBezTo>
                  <a:pt x="307684" y="8372"/>
                  <a:pt x="301154" y="8037"/>
                  <a:pt x="295628" y="10827"/>
                </a:cubicBezTo>
                <a:lnTo>
                  <a:pt x="230777" y="43253"/>
                </a:lnTo>
                <a:lnTo>
                  <a:pt x="130652" y="9823"/>
                </a:lnTo>
                <a:cubicBezTo>
                  <a:pt x="126132" y="8316"/>
                  <a:pt x="121276" y="8651"/>
                  <a:pt x="117035" y="10771"/>
                </a:cubicBezTo>
                <a:lnTo>
                  <a:pt x="45597" y="46490"/>
                </a:lnTo>
                <a:cubicBezTo>
                  <a:pt x="39514" y="49560"/>
                  <a:pt x="35719" y="55755"/>
                  <a:pt x="35719" y="62508"/>
                </a:cubicBezTo>
                <a:lnTo>
                  <a:pt x="35719" y="258961"/>
                </a:lnTo>
                <a:cubicBezTo>
                  <a:pt x="35719" y="265156"/>
                  <a:pt x="38900" y="270904"/>
                  <a:pt x="44202" y="274141"/>
                </a:cubicBezTo>
                <a:cubicBezTo>
                  <a:pt x="49504" y="277378"/>
                  <a:pt x="56034" y="277713"/>
                  <a:pt x="61559" y="274923"/>
                </a:cubicBezTo>
                <a:lnTo>
                  <a:pt x="126355" y="242497"/>
                </a:lnTo>
                <a:lnTo>
                  <a:pt x="223075" y="274755"/>
                </a:lnTo>
                <a:cubicBezTo>
                  <a:pt x="220675" y="271183"/>
                  <a:pt x="218331" y="267444"/>
                  <a:pt x="216043" y="263649"/>
                </a:cubicBezTo>
                <a:cubicBezTo>
                  <a:pt x="209903" y="253436"/>
                  <a:pt x="203820" y="241715"/>
                  <a:pt x="199299" y="229158"/>
                </a:cubicBezTo>
                <a:lnTo>
                  <a:pt x="142819" y="210350"/>
                </a:lnTo>
                <a:lnTo>
                  <a:pt x="142819" y="51569"/>
                </a:lnTo>
                <a:lnTo>
                  <a:pt x="214257" y="75400"/>
                </a:lnTo>
                <a:lnTo>
                  <a:pt x="214257" y="130820"/>
                </a:lnTo>
                <a:cubicBezTo>
                  <a:pt x="231558" y="110840"/>
                  <a:pt x="257231" y="98227"/>
                  <a:pt x="285694" y="98227"/>
                </a:cubicBezTo>
                <a:cubicBezTo>
                  <a:pt x="298307" y="98227"/>
                  <a:pt x="310362" y="100682"/>
                  <a:pt x="321413" y="105203"/>
                </a:cubicBezTo>
                <a:lnTo>
                  <a:pt x="321469" y="26789"/>
                </a:lnTo>
                <a:close/>
                <a:moveTo>
                  <a:pt x="285750" y="125016"/>
                </a:moveTo>
                <a:cubicBezTo>
                  <a:pt x="248748" y="125016"/>
                  <a:pt x="218777" y="154484"/>
                  <a:pt x="218777" y="190816"/>
                </a:cubicBezTo>
                <a:cubicBezTo>
                  <a:pt x="218777" y="229270"/>
                  <a:pt x="254552" y="274755"/>
                  <a:pt x="273807" y="296466"/>
                </a:cubicBezTo>
                <a:cubicBezTo>
                  <a:pt x="280281" y="303721"/>
                  <a:pt x="291275" y="303721"/>
                  <a:pt x="297749" y="296466"/>
                </a:cubicBezTo>
                <a:cubicBezTo>
                  <a:pt x="317004" y="274755"/>
                  <a:pt x="352778" y="229270"/>
                  <a:pt x="352778" y="190816"/>
                </a:cubicBezTo>
                <a:cubicBezTo>
                  <a:pt x="352778" y="154484"/>
                  <a:pt x="322808" y="125016"/>
                  <a:pt x="285806" y="125016"/>
                </a:cubicBezTo>
                <a:close/>
                <a:moveTo>
                  <a:pt x="263426" y="191988"/>
                </a:moveTo>
                <a:cubicBezTo>
                  <a:pt x="263426" y="179667"/>
                  <a:pt x="273429" y="169664"/>
                  <a:pt x="285750" y="169664"/>
                </a:cubicBezTo>
                <a:cubicBezTo>
                  <a:pt x="298071" y="169664"/>
                  <a:pt x="308074" y="179667"/>
                  <a:pt x="308074" y="191988"/>
                </a:cubicBezTo>
                <a:cubicBezTo>
                  <a:pt x="308074" y="204309"/>
                  <a:pt x="298071" y="214313"/>
                  <a:pt x="285750" y="214313"/>
                </a:cubicBezTo>
                <a:cubicBezTo>
                  <a:pt x="273429" y="214313"/>
                  <a:pt x="263426" y="204309"/>
                  <a:pt x="263426" y="191988"/>
                </a:cubicBezTo>
                <a:close/>
              </a:path>
            </a:pathLst>
          </a:custGeom>
          <a:solidFill>
            <a:srgbClr val="C97B61"/>
          </a:solidFill>
          <a:ln/>
        </p:spPr>
      </p:sp>
      <p:sp>
        <p:nvSpPr>
          <p:cNvPr id="14" name="Shape 11"/>
          <p:cNvSpPr/>
          <p:nvPr/>
        </p:nvSpPr>
        <p:spPr>
          <a:xfrm>
            <a:off x="11049000" y="35433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C97B61">
              <a:alpha val="2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11307366" y="378142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25016" y="0"/>
                </a:moveTo>
                <a:cubicBezTo>
                  <a:pt x="115137" y="0"/>
                  <a:pt x="107156" y="7981"/>
                  <a:pt x="107156" y="17859"/>
                </a:cubicBezTo>
                <a:lnTo>
                  <a:pt x="107156" y="19645"/>
                </a:lnTo>
                <a:cubicBezTo>
                  <a:pt x="66415" y="27905"/>
                  <a:pt x="35719" y="63959"/>
                  <a:pt x="35719" y="107156"/>
                </a:cubicBezTo>
                <a:lnTo>
                  <a:pt x="35719" y="119267"/>
                </a:lnTo>
                <a:cubicBezTo>
                  <a:pt x="35719" y="146112"/>
                  <a:pt x="26566" y="172176"/>
                  <a:pt x="9823" y="193160"/>
                </a:cubicBezTo>
                <a:lnTo>
                  <a:pt x="4353" y="199969"/>
                </a:lnTo>
                <a:cubicBezTo>
                  <a:pt x="1507" y="203485"/>
                  <a:pt x="0" y="207838"/>
                  <a:pt x="0" y="212359"/>
                </a:cubicBezTo>
                <a:cubicBezTo>
                  <a:pt x="0" y="223298"/>
                  <a:pt x="8874" y="232172"/>
                  <a:pt x="19813" y="232172"/>
                </a:cubicBezTo>
                <a:lnTo>
                  <a:pt x="230163" y="232172"/>
                </a:lnTo>
                <a:cubicBezTo>
                  <a:pt x="241102" y="232172"/>
                  <a:pt x="249975" y="223298"/>
                  <a:pt x="249975" y="212359"/>
                </a:cubicBezTo>
                <a:cubicBezTo>
                  <a:pt x="249975" y="207838"/>
                  <a:pt x="248469" y="203485"/>
                  <a:pt x="245622" y="199969"/>
                </a:cubicBezTo>
                <a:lnTo>
                  <a:pt x="240153" y="193160"/>
                </a:lnTo>
                <a:cubicBezTo>
                  <a:pt x="223465" y="172176"/>
                  <a:pt x="214313" y="146112"/>
                  <a:pt x="214313" y="119267"/>
                </a:cubicBezTo>
                <a:lnTo>
                  <a:pt x="214313" y="107156"/>
                </a:lnTo>
                <a:cubicBezTo>
                  <a:pt x="214313" y="63959"/>
                  <a:pt x="183617" y="27905"/>
                  <a:pt x="142875" y="19645"/>
                </a:cubicBezTo>
                <a:lnTo>
                  <a:pt x="142875" y="17859"/>
                </a:lnTo>
                <a:cubicBezTo>
                  <a:pt x="142875" y="7981"/>
                  <a:pt x="134894" y="0"/>
                  <a:pt x="125016" y="0"/>
                </a:cubicBezTo>
                <a:close/>
                <a:moveTo>
                  <a:pt x="90413" y="258961"/>
                </a:moveTo>
                <a:cubicBezTo>
                  <a:pt x="94376" y="274365"/>
                  <a:pt x="108384" y="285750"/>
                  <a:pt x="125016" y="285750"/>
                </a:cubicBezTo>
                <a:cubicBezTo>
                  <a:pt x="141647" y="285750"/>
                  <a:pt x="155656" y="274365"/>
                  <a:pt x="159618" y="258961"/>
                </a:cubicBezTo>
                <a:lnTo>
                  <a:pt x="90413" y="258961"/>
                </a:lnTo>
                <a:close/>
              </a:path>
            </a:pathLst>
          </a:custGeom>
          <a:solidFill>
            <a:srgbClr val="C97B61"/>
          </a:solidFill>
          <a:ln/>
        </p:spPr>
      </p:sp>
      <p:sp>
        <p:nvSpPr>
          <p:cNvPr id="16" name="Shape 13"/>
          <p:cNvSpPr/>
          <p:nvPr/>
        </p:nvSpPr>
        <p:spPr>
          <a:xfrm>
            <a:off x="11049000" y="45339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C97B61">
              <a:alpha val="2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11289506" y="47720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60220"/>
                </a:moveTo>
                <a:lnTo>
                  <a:pt x="134503" y="48611"/>
                </a:lnTo>
                <a:cubicBezTo>
                  <a:pt x="120551" y="29301"/>
                  <a:pt x="98171" y="17859"/>
                  <a:pt x="74284" y="17859"/>
                </a:cubicBezTo>
                <a:cubicBezTo>
                  <a:pt x="33263" y="17859"/>
                  <a:pt x="0" y="51122"/>
                  <a:pt x="0" y="92143"/>
                </a:cubicBezTo>
                <a:lnTo>
                  <a:pt x="0" y="93594"/>
                </a:lnTo>
                <a:cubicBezTo>
                  <a:pt x="0" y="106766"/>
                  <a:pt x="3460" y="120383"/>
                  <a:pt x="9265" y="133945"/>
                </a:cubicBezTo>
                <a:lnTo>
                  <a:pt x="68424" y="133945"/>
                </a:lnTo>
                <a:cubicBezTo>
                  <a:pt x="70210" y="133945"/>
                  <a:pt x="71828" y="132885"/>
                  <a:pt x="72554" y="131211"/>
                </a:cubicBezTo>
                <a:lnTo>
                  <a:pt x="90301" y="88627"/>
                </a:lnTo>
                <a:cubicBezTo>
                  <a:pt x="92366" y="83716"/>
                  <a:pt x="97166" y="80479"/>
                  <a:pt x="102468" y="80367"/>
                </a:cubicBezTo>
                <a:cubicBezTo>
                  <a:pt x="107770" y="80256"/>
                  <a:pt x="112681" y="83381"/>
                  <a:pt x="114858" y="88236"/>
                </a:cubicBezTo>
                <a:lnTo>
                  <a:pt x="143489" y="151805"/>
                </a:lnTo>
                <a:lnTo>
                  <a:pt x="166594" y="105594"/>
                </a:lnTo>
                <a:cubicBezTo>
                  <a:pt x="168883" y="101073"/>
                  <a:pt x="173515" y="98171"/>
                  <a:pt x="178594" y="98171"/>
                </a:cubicBezTo>
                <a:cubicBezTo>
                  <a:pt x="183673" y="98171"/>
                  <a:pt x="188305" y="101017"/>
                  <a:pt x="190593" y="105594"/>
                </a:cubicBezTo>
                <a:lnTo>
                  <a:pt x="203541" y="131434"/>
                </a:lnTo>
                <a:cubicBezTo>
                  <a:pt x="204322" y="132941"/>
                  <a:pt x="205829" y="133890"/>
                  <a:pt x="207559" y="133890"/>
                </a:cubicBezTo>
                <a:lnTo>
                  <a:pt x="276541" y="133890"/>
                </a:lnTo>
                <a:cubicBezTo>
                  <a:pt x="282401" y="120328"/>
                  <a:pt x="285806" y="106710"/>
                  <a:pt x="285806" y="93538"/>
                </a:cubicBezTo>
                <a:lnTo>
                  <a:pt x="285806" y="92087"/>
                </a:lnTo>
                <a:cubicBezTo>
                  <a:pt x="285750" y="51122"/>
                  <a:pt x="252487" y="17859"/>
                  <a:pt x="211466" y="17859"/>
                </a:cubicBezTo>
                <a:cubicBezTo>
                  <a:pt x="187635" y="17859"/>
                  <a:pt x="165199" y="29301"/>
                  <a:pt x="151247" y="48611"/>
                </a:cubicBezTo>
                <a:lnTo>
                  <a:pt x="142875" y="60164"/>
                </a:lnTo>
                <a:close/>
                <a:moveTo>
                  <a:pt x="262086" y="160734"/>
                </a:moveTo>
                <a:lnTo>
                  <a:pt x="207504" y="160734"/>
                </a:lnTo>
                <a:cubicBezTo>
                  <a:pt x="195672" y="160734"/>
                  <a:pt x="184845" y="154037"/>
                  <a:pt x="179543" y="143433"/>
                </a:cubicBezTo>
                <a:lnTo>
                  <a:pt x="178594" y="141536"/>
                </a:lnTo>
                <a:lnTo>
                  <a:pt x="154874" y="189030"/>
                </a:lnTo>
                <a:cubicBezTo>
                  <a:pt x="152586" y="193663"/>
                  <a:pt x="147786" y="196565"/>
                  <a:pt x="142596" y="196453"/>
                </a:cubicBezTo>
                <a:cubicBezTo>
                  <a:pt x="137406" y="196342"/>
                  <a:pt x="132773" y="193272"/>
                  <a:pt x="130652" y="188584"/>
                </a:cubicBezTo>
                <a:lnTo>
                  <a:pt x="103138" y="127471"/>
                </a:lnTo>
                <a:lnTo>
                  <a:pt x="97278" y="141536"/>
                </a:lnTo>
                <a:cubicBezTo>
                  <a:pt x="92422" y="153200"/>
                  <a:pt x="81037" y="160790"/>
                  <a:pt x="68424" y="160790"/>
                </a:cubicBezTo>
                <a:lnTo>
                  <a:pt x="23664" y="160790"/>
                </a:lnTo>
                <a:cubicBezTo>
                  <a:pt x="50006" y="201978"/>
                  <a:pt x="92311" y="239874"/>
                  <a:pt x="118765" y="260077"/>
                </a:cubicBezTo>
                <a:cubicBezTo>
                  <a:pt x="125685" y="265323"/>
                  <a:pt x="134169" y="267946"/>
                  <a:pt x="142819" y="267946"/>
                </a:cubicBezTo>
                <a:cubicBezTo>
                  <a:pt x="151470" y="267946"/>
                  <a:pt x="160009" y="265379"/>
                  <a:pt x="166874" y="260077"/>
                </a:cubicBezTo>
                <a:cubicBezTo>
                  <a:pt x="193439" y="239818"/>
                  <a:pt x="235744" y="201923"/>
                  <a:pt x="262086" y="160734"/>
                </a:cubicBezTo>
                <a:close/>
              </a:path>
            </a:pathLst>
          </a:custGeom>
          <a:solidFill>
            <a:srgbClr val="C97B61"/>
          </a:solidFill>
          <a:ln/>
        </p:spPr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571500"/>
            <a:ext cx="560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C97B6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Проблемът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914400"/>
            <a:ext cx="57531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3A4F4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Селата са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3A4F4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уязвими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22098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97B61"/>
          </a:solidFill>
          <a:ln/>
        </p:spPr>
      </p:sp>
      <p:sp>
        <p:nvSpPr>
          <p:cNvPr id="5" name="Text 3"/>
          <p:cNvSpPr/>
          <p:nvPr/>
        </p:nvSpPr>
        <p:spPr>
          <a:xfrm>
            <a:off x="381000" y="2628900"/>
            <a:ext cx="2209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5400" b="1" dirty="0">
                <a:solidFill>
                  <a:srgbClr val="3A4F4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4,999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398068" y="2981325"/>
            <a:ext cx="19050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2D2D2D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села в България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1000" y="3619500"/>
            <a:ext cx="2019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5400" b="1" dirty="0">
                <a:solidFill>
                  <a:srgbClr val="C97B6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1,258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06079" y="3971925"/>
            <a:ext cx="24955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2D2D2D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села с под 50 жители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1000" y="4610100"/>
            <a:ext cx="23336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5400" b="1" dirty="0">
                <a:solidFill>
                  <a:srgbClr val="3A4F4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20.3%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522190" y="4962525"/>
            <a:ext cx="29337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2D2D2D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засегнати от бедствия '24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1000" y="5600700"/>
            <a:ext cx="17240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5400" b="1" dirty="0">
                <a:solidFill>
                  <a:srgbClr val="C97B6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47.6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18246" y="5953125"/>
            <a:ext cx="265747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2D2D2D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години средна възраст</a:t>
            </a:r>
            <a:endParaRPr lang="en-US" sz="1600" dirty="0"/>
          </a:p>
        </p:txBody>
      </p:sp>
      <p:pic>
        <p:nvPicPr>
          <p:cNvPr id="13" name="Image 0" descr="https://kimi-web-img.moonshot.cn/img/i0.wp.com/73c851b56c0e3d811390d9884788885813e480ee.jpg"/>
          <p:cNvPicPr>
            <a:picLocks noChangeAspect="1"/>
          </p:cNvPicPr>
          <p:nvPr/>
        </p:nvPicPr>
        <p:blipFill>
          <a:blip r:embed="rId3"/>
          <a:srcRect l="4782" r="4782"/>
          <a:stretch/>
        </p:blipFill>
        <p:spPr>
          <a:xfrm>
            <a:off x="6286500" y="381000"/>
            <a:ext cx="5524500" cy="4581525"/>
          </a:xfrm>
          <a:prstGeom prst="roundRect">
            <a:avLst>
              <a:gd name="adj" fmla="val 3326"/>
            </a:avLst>
          </a:prstGeom>
        </p:spPr>
      </p:pic>
      <p:sp>
        <p:nvSpPr>
          <p:cNvPr id="14" name="Shape 11"/>
          <p:cNvSpPr/>
          <p:nvPr/>
        </p:nvSpPr>
        <p:spPr>
          <a:xfrm>
            <a:off x="6286500" y="381000"/>
            <a:ext cx="5524500" cy="4581525"/>
          </a:xfrm>
          <a:custGeom>
            <a:avLst/>
            <a:gdLst/>
            <a:ahLst/>
            <a:cxnLst/>
            <a:rect l="l" t="t" r="r" b="b"/>
            <a:pathLst>
              <a:path w="5524500" h="4581525">
                <a:moveTo>
                  <a:pt x="0" y="0"/>
                </a:moveTo>
                <a:lnTo>
                  <a:pt x="5524500" y="0"/>
                </a:lnTo>
                <a:lnTo>
                  <a:pt x="5524500" y="4581525"/>
                </a:lnTo>
                <a:lnTo>
                  <a:pt x="0" y="4581525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A4F41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15" name="Text 12"/>
          <p:cNvSpPr/>
          <p:nvPr/>
        </p:nvSpPr>
        <p:spPr>
          <a:xfrm>
            <a:off x="6515100" y="4181475"/>
            <a:ext cx="51530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8F7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199 села са без нито един жител, а в 1,258 села живеят между 1 и 49 души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286500" y="5191125"/>
            <a:ext cx="5524500" cy="1285875"/>
          </a:xfrm>
          <a:custGeom>
            <a:avLst/>
            <a:gdLst/>
            <a:ahLst/>
            <a:cxnLst/>
            <a:rect l="l" t="t" r="r" b="b"/>
            <a:pathLst>
              <a:path w="5524500" h="1285875">
                <a:moveTo>
                  <a:pt x="152402" y="0"/>
                </a:moveTo>
                <a:lnTo>
                  <a:pt x="5372098" y="0"/>
                </a:lnTo>
                <a:cubicBezTo>
                  <a:pt x="5456267" y="0"/>
                  <a:pt x="5524500" y="68233"/>
                  <a:pt x="5524500" y="152402"/>
                </a:cubicBezTo>
                <a:lnTo>
                  <a:pt x="5524500" y="1133473"/>
                </a:lnTo>
                <a:cubicBezTo>
                  <a:pt x="5524500" y="1217642"/>
                  <a:pt x="5456267" y="1285875"/>
                  <a:pt x="5372098" y="1285875"/>
                </a:cubicBezTo>
                <a:lnTo>
                  <a:pt x="152402" y="1285875"/>
                </a:lnTo>
                <a:cubicBezTo>
                  <a:pt x="68233" y="1285875"/>
                  <a:pt x="0" y="1217642"/>
                  <a:pt x="0" y="1133473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3A4F41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515100" y="5419725"/>
            <a:ext cx="5153025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C97B6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Цифровото разделение</a:t>
            </a:r>
            <a:r>
              <a:rPr lang="en-US" sz="1350" dirty="0">
                <a:solidFill>
                  <a:srgbClr val="F8F7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и липсата на бърз достъп до информация при кризи правят селските общности особено уязвими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C97B6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Решението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3A4F4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ResQ Village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192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Всеобхватна уеб платформа за защита на селските общности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714500"/>
            <a:ext cx="5600700" cy="1695450"/>
          </a:xfrm>
          <a:custGeom>
            <a:avLst/>
            <a:gdLst/>
            <a:ahLst/>
            <a:cxnLst/>
            <a:rect l="l" t="t" r="r" b="b"/>
            <a:pathLst>
              <a:path w="5600700" h="1695450">
                <a:moveTo>
                  <a:pt x="38100" y="0"/>
                </a:moveTo>
                <a:lnTo>
                  <a:pt x="5448296" y="0"/>
                </a:lnTo>
                <a:cubicBezTo>
                  <a:pt x="5532410" y="0"/>
                  <a:pt x="5600700" y="68290"/>
                  <a:pt x="5600700" y="152404"/>
                </a:cubicBezTo>
                <a:lnTo>
                  <a:pt x="5600700" y="1543046"/>
                </a:lnTo>
                <a:cubicBezTo>
                  <a:pt x="5600700" y="1627160"/>
                  <a:pt x="5532410" y="1695450"/>
                  <a:pt x="5448296" y="1695450"/>
                </a:cubicBezTo>
                <a:lnTo>
                  <a:pt x="38100" y="1695450"/>
                </a:lnTo>
                <a:cubicBezTo>
                  <a:pt x="17072" y="1695450"/>
                  <a:pt x="0" y="1678378"/>
                  <a:pt x="0" y="1657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0050" y="1714500"/>
            <a:ext cx="38100" cy="1695450"/>
          </a:xfrm>
          <a:custGeom>
            <a:avLst/>
            <a:gdLst/>
            <a:ahLst/>
            <a:cxnLst/>
            <a:rect l="l" t="t" r="r" b="b"/>
            <a:pathLst>
              <a:path w="38100" h="1695450">
                <a:moveTo>
                  <a:pt x="38100" y="0"/>
                </a:moveTo>
                <a:lnTo>
                  <a:pt x="38100" y="0"/>
                </a:lnTo>
                <a:lnTo>
                  <a:pt x="38100" y="1695450"/>
                </a:lnTo>
                <a:lnTo>
                  <a:pt x="38100" y="1695450"/>
                </a:lnTo>
                <a:cubicBezTo>
                  <a:pt x="17072" y="1695450"/>
                  <a:pt x="0" y="1678378"/>
                  <a:pt x="0" y="1657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7" name="Shape 5"/>
          <p:cNvSpPr/>
          <p:nvPr/>
        </p:nvSpPr>
        <p:spPr>
          <a:xfrm>
            <a:off x="647700" y="19716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8" name="Shape 6"/>
          <p:cNvSpPr/>
          <p:nvPr/>
        </p:nvSpPr>
        <p:spPr>
          <a:xfrm>
            <a:off x="771525" y="2124075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257175" y="21431"/>
                </a:moveTo>
                <a:cubicBezTo>
                  <a:pt x="257175" y="16475"/>
                  <a:pt x="254630" y="11876"/>
                  <a:pt x="250388" y="9287"/>
                </a:cubicBezTo>
                <a:cubicBezTo>
                  <a:pt x="246147" y="6697"/>
                  <a:pt x="240923" y="6429"/>
                  <a:pt x="236503" y="8662"/>
                </a:cubicBezTo>
                <a:lnTo>
                  <a:pt x="184621" y="34603"/>
                </a:lnTo>
                <a:lnTo>
                  <a:pt x="104522" y="7858"/>
                </a:lnTo>
                <a:cubicBezTo>
                  <a:pt x="100905" y="6653"/>
                  <a:pt x="97021" y="6921"/>
                  <a:pt x="93628" y="8617"/>
                </a:cubicBezTo>
                <a:lnTo>
                  <a:pt x="36478" y="37192"/>
                </a:lnTo>
                <a:cubicBezTo>
                  <a:pt x="31611" y="39648"/>
                  <a:pt x="28575" y="44604"/>
                  <a:pt x="28575" y="50006"/>
                </a:cubicBezTo>
                <a:lnTo>
                  <a:pt x="28575" y="207169"/>
                </a:lnTo>
                <a:cubicBezTo>
                  <a:pt x="28575" y="212125"/>
                  <a:pt x="31120" y="216724"/>
                  <a:pt x="35362" y="219313"/>
                </a:cubicBezTo>
                <a:cubicBezTo>
                  <a:pt x="39603" y="221903"/>
                  <a:pt x="44827" y="222171"/>
                  <a:pt x="49247" y="219938"/>
                </a:cubicBezTo>
                <a:lnTo>
                  <a:pt x="101084" y="193997"/>
                </a:lnTo>
                <a:lnTo>
                  <a:pt x="178460" y="219804"/>
                </a:lnTo>
                <a:cubicBezTo>
                  <a:pt x="176540" y="216947"/>
                  <a:pt x="174665" y="213955"/>
                  <a:pt x="172834" y="210919"/>
                </a:cubicBezTo>
                <a:cubicBezTo>
                  <a:pt x="167923" y="202749"/>
                  <a:pt x="163056" y="193372"/>
                  <a:pt x="159440" y="183326"/>
                </a:cubicBezTo>
                <a:lnTo>
                  <a:pt x="114255" y="168280"/>
                </a:lnTo>
                <a:lnTo>
                  <a:pt x="114255" y="41255"/>
                </a:lnTo>
                <a:lnTo>
                  <a:pt x="171405" y="60320"/>
                </a:lnTo>
                <a:lnTo>
                  <a:pt x="171405" y="104656"/>
                </a:lnTo>
                <a:cubicBezTo>
                  <a:pt x="185246" y="88672"/>
                  <a:pt x="205785" y="78581"/>
                  <a:pt x="228555" y="78581"/>
                </a:cubicBezTo>
                <a:cubicBezTo>
                  <a:pt x="238646" y="78581"/>
                  <a:pt x="248290" y="80546"/>
                  <a:pt x="257130" y="84162"/>
                </a:cubicBezTo>
                <a:lnTo>
                  <a:pt x="257175" y="21431"/>
                </a:lnTo>
                <a:close/>
                <a:moveTo>
                  <a:pt x="228600" y="100013"/>
                </a:moveTo>
                <a:cubicBezTo>
                  <a:pt x="198998" y="100013"/>
                  <a:pt x="175022" y="123587"/>
                  <a:pt x="175022" y="152653"/>
                </a:cubicBezTo>
                <a:cubicBezTo>
                  <a:pt x="175022" y="183416"/>
                  <a:pt x="203642" y="219804"/>
                  <a:pt x="219045" y="237173"/>
                </a:cubicBezTo>
                <a:cubicBezTo>
                  <a:pt x="224224" y="242977"/>
                  <a:pt x="233020" y="242977"/>
                  <a:pt x="238199" y="237173"/>
                </a:cubicBezTo>
                <a:cubicBezTo>
                  <a:pt x="253603" y="219804"/>
                  <a:pt x="282223" y="183416"/>
                  <a:pt x="282223" y="152653"/>
                </a:cubicBezTo>
                <a:cubicBezTo>
                  <a:pt x="282223" y="123587"/>
                  <a:pt x="258247" y="100013"/>
                  <a:pt x="228645" y="100013"/>
                </a:cubicBezTo>
                <a:close/>
                <a:moveTo>
                  <a:pt x="210741" y="153591"/>
                </a:moveTo>
                <a:cubicBezTo>
                  <a:pt x="210741" y="143734"/>
                  <a:pt x="218743" y="135731"/>
                  <a:pt x="228600" y="135731"/>
                </a:cubicBezTo>
                <a:cubicBezTo>
                  <a:pt x="238457" y="135731"/>
                  <a:pt x="246459" y="143734"/>
                  <a:pt x="246459" y="153591"/>
                </a:cubicBezTo>
                <a:cubicBezTo>
                  <a:pt x="246459" y="163447"/>
                  <a:pt x="238457" y="171450"/>
                  <a:pt x="228600" y="171450"/>
                </a:cubicBezTo>
                <a:cubicBezTo>
                  <a:pt x="218743" y="171450"/>
                  <a:pt x="210741" y="163447"/>
                  <a:pt x="210741" y="153591"/>
                </a:cubicBezTo>
                <a:close/>
              </a:path>
            </a:pathLst>
          </a:custGeom>
          <a:solidFill>
            <a:srgbClr val="F8F7F4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1943100"/>
            <a:ext cx="178117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4F4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Интерактивна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4F4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карта на риска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7700" y="2686050"/>
            <a:ext cx="5200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2D2D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Визуално категоризиране на селските райони според уязвимостта към конкретни заплахи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10300" y="1714500"/>
            <a:ext cx="5600700" cy="1695450"/>
          </a:xfrm>
          <a:custGeom>
            <a:avLst/>
            <a:gdLst/>
            <a:ahLst/>
            <a:cxnLst/>
            <a:rect l="l" t="t" r="r" b="b"/>
            <a:pathLst>
              <a:path w="5600700" h="1695450">
                <a:moveTo>
                  <a:pt x="38100" y="0"/>
                </a:moveTo>
                <a:lnTo>
                  <a:pt x="5448296" y="0"/>
                </a:lnTo>
                <a:cubicBezTo>
                  <a:pt x="5532410" y="0"/>
                  <a:pt x="5600700" y="68290"/>
                  <a:pt x="5600700" y="152404"/>
                </a:cubicBezTo>
                <a:lnTo>
                  <a:pt x="5600700" y="1543046"/>
                </a:lnTo>
                <a:cubicBezTo>
                  <a:pt x="5600700" y="1627160"/>
                  <a:pt x="5532410" y="1695450"/>
                  <a:pt x="5448296" y="1695450"/>
                </a:cubicBezTo>
                <a:lnTo>
                  <a:pt x="38100" y="1695450"/>
                </a:lnTo>
                <a:cubicBezTo>
                  <a:pt x="17072" y="1695450"/>
                  <a:pt x="0" y="1678378"/>
                  <a:pt x="0" y="1657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0300" y="1714500"/>
            <a:ext cx="38100" cy="1695450"/>
          </a:xfrm>
          <a:custGeom>
            <a:avLst/>
            <a:gdLst/>
            <a:ahLst/>
            <a:cxnLst/>
            <a:rect l="l" t="t" r="r" b="b"/>
            <a:pathLst>
              <a:path w="38100" h="1695450">
                <a:moveTo>
                  <a:pt x="38100" y="0"/>
                </a:moveTo>
                <a:lnTo>
                  <a:pt x="38100" y="0"/>
                </a:lnTo>
                <a:lnTo>
                  <a:pt x="38100" y="1695450"/>
                </a:lnTo>
                <a:lnTo>
                  <a:pt x="38100" y="1695450"/>
                </a:lnTo>
                <a:cubicBezTo>
                  <a:pt x="17072" y="1695450"/>
                  <a:pt x="0" y="1678378"/>
                  <a:pt x="0" y="1657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7B61"/>
          </a:solidFill>
          <a:ln/>
        </p:spPr>
      </p:sp>
      <p:sp>
        <p:nvSpPr>
          <p:cNvPr id="13" name="Shape 11"/>
          <p:cNvSpPr/>
          <p:nvPr/>
        </p:nvSpPr>
        <p:spPr>
          <a:xfrm>
            <a:off x="6457950" y="19716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C97B61"/>
          </a:solidFill>
          <a:ln/>
        </p:spPr>
      </p:sp>
      <p:sp>
        <p:nvSpPr>
          <p:cNvPr id="14" name="Shape 12"/>
          <p:cNvSpPr/>
          <p:nvPr/>
        </p:nvSpPr>
        <p:spPr>
          <a:xfrm>
            <a:off x="6624638" y="212407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0"/>
                </a:moveTo>
                <a:cubicBezTo>
                  <a:pt x="92110" y="0"/>
                  <a:pt x="85725" y="6385"/>
                  <a:pt x="85725" y="14288"/>
                </a:cubicBezTo>
                <a:lnTo>
                  <a:pt x="85725" y="15716"/>
                </a:lnTo>
                <a:cubicBezTo>
                  <a:pt x="53132" y="22324"/>
                  <a:pt x="28575" y="51167"/>
                  <a:pt x="28575" y="85725"/>
                </a:cubicBezTo>
                <a:lnTo>
                  <a:pt x="28575" y="95414"/>
                </a:lnTo>
                <a:cubicBezTo>
                  <a:pt x="28575" y="116890"/>
                  <a:pt x="21253" y="137740"/>
                  <a:pt x="7858" y="154528"/>
                </a:cubicBezTo>
                <a:lnTo>
                  <a:pt x="3483" y="159975"/>
                </a:lnTo>
                <a:cubicBezTo>
                  <a:pt x="1206" y="162788"/>
                  <a:pt x="0" y="166271"/>
                  <a:pt x="0" y="169887"/>
                </a:cubicBezTo>
                <a:cubicBezTo>
                  <a:pt x="0" y="178638"/>
                  <a:pt x="7099" y="185738"/>
                  <a:pt x="15850" y="185738"/>
                </a:cubicBezTo>
                <a:lnTo>
                  <a:pt x="184130" y="185738"/>
                </a:lnTo>
                <a:cubicBezTo>
                  <a:pt x="192881" y="185738"/>
                  <a:pt x="199980" y="178638"/>
                  <a:pt x="199980" y="169887"/>
                </a:cubicBezTo>
                <a:cubicBezTo>
                  <a:pt x="199980" y="166271"/>
                  <a:pt x="198775" y="162788"/>
                  <a:pt x="196498" y="159975"/>
                </a:cubicBezTo>
                <a:lnTo>
                  <a:pt x="192122" y="154528"/>
                </a:lnTo>
                <a:cubicBezTo>
                  <a:pt x="178772" y="137740"/>
                  <a:pt x="171450" y="116890"/>
                  <a:pt x="171450" y="95414"/>
                </a:cubicBezTo>
                <a:lnTo>
                  <a:pt x="171450" y="85725"/>
                </a:lnTo>
                <a:cubicBezTo>
                  <a:pt x="171450" y="51167"/>
                  <a:pt x="146893" y="22324"/>
                  <a:pt x="114300" y="15716"/>
                </a:cubicBezTo>
                <a:lnTo>
                  <a:pt x="114300" y="14287"/>
                </a:lnTo>
                <a:cubicBezTo>
                  <a:pt x="114300" y="6385"/>
                  <a:pt x="107915" y="0"/>
                  <a:pt x="100013" y="0"/>
                </a:cubicBezTo>
                <a:close/>
                <a:moveTo>
                  <a:pt x="72330" y="207169"/>
                </a:moveTo>
                <a:cubicBezTo>
                  <a:pt x="75501" y="219492"/>
                  <a:pt x="86707" y="228600"/>
                  <a:pt x="100013" y="228600"/>
                </a:cubicBezTo>
                <a:cubicBezTo>
                  <a:pt x="113318" y="228600"/>
                  <a:pt x="124524" y="219492"/>
                  <a:pt x="127695" y="207169"/>
                </a:cubicBezTo>
                <a:lnTo>
                  <a:pt x="72330" y="207169"/>
                </a:lnTo>
                <a:close/>
              </a:path>
            </a:pathLst>
          </a:custGeom>
          <a:solidFill>
            <a:srgbClr val="F8F7F4"/>
          </a:solidFill>
          <a:ln/>
        </p:spPr>
      </p:sp>
      <p:sp>
        <p:nvSpPr>
          <p:cNvPr id="15" name="Text 13"/>
          <p:cNvSpPr/>
          <p:nvPr/>
        </p:nvSpPr>
        <p:spPr>
          <a:xfrm>
            <a:off x="7143750" y="1943100"/>
            <a:ext cx="212407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4F4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Система за ранно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4F4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предупреждение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7950" y="2686050"/>
            <a:ext cx="5200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2D2D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Интеграция с метеорологични и сеизмични данни за моментални сигнали в реално време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3600450"/>
            <a:ext cx="5600700" cy="1695450"/>
          </a:xfrm>
          <a:custGeom>
            <a:avLst/>
            <a:gdLst/>
            <a:ahLst/>
            <a:cxnLst/>
            <a:rect l="l" t="t" r="r" b="b"/>
            <a:pathLst>
              <a:path w="5600700" h="1695450">
                <a:moveTo>
                  <a:pt x="38100" y="0"/>
                </a:moveTo>
                <a:lnTo>
                  <a:pt x="5448296" y="0"/>
                </a:lnTo>
                <a:cubicBezTo>
                  <a:pt x="5532410" y="0"/>
                  <a:pt x="5600700" y="68290"/>
                  <a:pt x="5600700" y="152404"/>
                </a:cubicBezTo>
                <a:lnTo>
                  <a:pt x="5600700" y="1543046"/>
                </a:lnTo>
                <a:cubicBezTo>
                  <a:pt x="5600700" y="1627160"/>
                  <a:pt x="5532410" y="1695450"/>
                  <a:pt x="5448296" y="1695450"/>
                </a:cubicBezTo>
                <a:lnTo>
                  <a:pt x="38100" y="1695450"/>
                </a:lnTo>
                <a:cubicBezTo>
                  <a:pt x="17072" y="1695450"/>
                  <a:pt x="0" y="1678378"/>
                  <a:pt x="0" y="1657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00050" y="3600450"/>
            <a:ext cx="38100" cy="1695450"/>
          </a:xfrm>
          <a:custGeom>
            <a:avLst/>
            <a:gdLst/>
            <a:ahLst/>
            <a:cxnLst/>
            <a:rect l="l" t="t" r="r" b="b"/>
            <a:pathLst>
              <a:path w="38100" h="1695450">
                <a:moveTo>
                  <a:pt x="38100" y="0"/>
                </a:moveTo>
                <a:lnTo>
                  <a:pt x="38100" y="0"/>
                </a:lnTo>
                <a:lnTo>
                  <a:pt x="38100" y="1695450"/>
                </a:lnTo>
                <a:lnTo>
                  <a:pt x="38100" y="1695450"/>
                </a:lnTo>
                <a:cubicBezTo>
                  <a:pt x="17072" y="1695450"/>
                  <a:pt x="0" y="1678378"/>
                  <a:pt x="0" y="1657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A9B8D"/>
          </a:solidFill>
          <a:ln/>
        </p:spPr>
      </p:sp>
      <p:sp>
        <p:nvSpPr>
          <p:cNvPr id="19" name="Shape 17"/>
          <p:cNvSpPr/>
          <p:nvPr/>
        </p:nvSpPr>
        <p:spPr>
          <a:xfrm>
            <a:off x="647700" y="38576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8A9B8D"/>
          </a:solidFill>
          <a:ln/>
        </p:spPr>
      </p:sp>
      <p:sp>
        <p:nvSpPr>
          <p:cNvPr id="20" name="Shape 18"/>
          <p:cNvSpPr/>
          <p:nvPr/>
        </p:nvSpPr>
        <p:spPr>
          <a:xfrm>
            <a:off x="800100" y="40100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48176"/>
                </a:moveTo>
                <a:lnTo>
                  <a:pt x="107603" y="38889"/>
                </a:lnTo>
                <a:cubicBezTo>
                  <a:pt x="96441" y="23440"/>
                  <a:pt x="78537" y="14288"/>
                  <a:pt x="59427" y="14288"/>
                </a:cubicBezTo>
                <a:cubicBezTo>
                  <a:pt x="26610" y="14288"/>
                  <a:pt x="0" y="40898"/>
                  <a:pt x="0" y="73715"/>
                </a:cubicBezTo>
                <a:lnTo>
                  <a:pt x="0" y="74875"/>
                </a:lnTo>
                <a:cubicBezTo>
                  <a:pt x="0" y="85412"/>
                  <a:pt x="2768" y="96307"/>
                  <a:pt x="7412" y="107156"/>
                </a:cubicBezTo>
                <a:lnTo>
                  <a:pt x="54739" y="107156"/>
                </a:lnTo>
                <a:cubicBezTo>
                  <a:pt x="56168" y="107156"/>
                  <a:pt x="57463" y="106308"/>
                  <a:pt x="58043" y="104968"/>
                </a:cubicBezTo>
                <a:lnTo>
                  <a:pt x="72241" y="70902"/>
                </a:lnTo>
                <a:cubicBezTo>
                  <a:pt x="73893" y="66973"/>
                  <a:pt x="77733" y="64383"/>
                  <a:pt x="81975" y="64294"/>
                </a:cubicBezTo>
                <a:cubicBezTo>
                  <a:pt x="86216" y="64204"/>
                  <a:pt x="90145" y="66705"/>
                  <a:pt x="91886" y="70589"/>
                </a:cubicBezTo>
                <a:lnTo>
                  <a:pt x="114791" y="121444"/>
                </a:lnTo>
                <a:lnTo>
                  <a:pt x="133276" y="84475"/>
                </a:lnTo>
                <a:cubicBezTo>
                  <a:pt x="135106" y="80858"/>
                  <a:pt x="138812" y="78537"/>
                  <a:pt x="142875" y="78537"/>
                </a:cubicBezTo>
                <a:cubicBezTo>
                  <a:pt x="146938" y="78537"/>
                  <a:pt x="150644" y="80814"/>
                  <a:pt x="152474" y="84475"/>
                </a:cubicBezTo>
                <a:lnTo>
                  <a:pt x="162833" y="105147"/>
                </a:lnTo>
                <a:cubicBezTo>
                  <a:pt x="163458" y="106353"/>
                  <a:pt x="164663" y="107112"/>
                  <a:pt x="166048" y="107112"/>
                </a:cubicBezTo>
                <a:lnTo>
                  <a:pt x="221233" y="107112"/>
                </a:lnTo>
                <a:cubicBezTo>
                  <a:pt x="225921" y="96262"/>
                  <a:pt x="228645" y="85368"/>
                  <a:pt x="228645" y="74831"/>
                </a:cubicBezTo>
                <a:lnTo>
                  <a:pt x="228645" y="73670"/>
                </a:lnTo>
                <a:cubicBezTo>
                  <a:pt x="228600" y="40898"/>
                  <a:pt x="201990" y="14288"/>
                  <a:pt x="169173" y="14288"/>
                </a:cubicBezTo>
                <a:cubicBezTo>
                  <a:pt x="150108" y="14288"/>
                  <a:pt x="132159" y="23440"/>
                  <a:pt x="120997" y="38889"/>
                </a:cubicBezTo>
                <a:lnTo>
                  <a:pt x="114300" y="48131"/>
                </a:lnTo>
                <a:close/>
                <a:moveTo>
                  <a:pt x="209669" y="128588"/>
                </a:moveTo>
                <a:lnTo>
                  <a:pt x="166003" y="128588"/>
                </a:lnTo>
                <a:cubicBezTo>
                  <a:pt x="156537" y="128588"/>
                  <a:pt x="147876" y="123230"/>
                  <a:pt x="143634" y="114746"/>
                </a:cubicBezTo>
                <a:lnTo>
                  <a:pt x="142875" y="113228"/>
                </a:lnTo>
                <a:lnTo>
                  <a:pt x="123899" y="151224"/>
                </a:lnTo>
                <a:cubicBezTo>
                  <a:pt x="122069" y="154930"/>
                  <a:pt x="118229" y="157252"/>
                  <a:pt x="114077" y="157163"/>
                </a:cubicBezTo>
                <a:cubicBezTo>
                  <a:pt x="109924" y="157073"/>
                  <a:pt x="106219" y="154618"/>
                  <a:pt x="104522" y="150867"/>
                </a:cubicBezTo>
                <a:lnTo>
                  <a:pt x="82510" y="101977"/>
                </a:lnTo>
                <a:lnTo>
                  <a:pt x="77822" y="113228"/>
                </a:lnTo>
                <a:cubicBezTo>
                  <a:pt x="73938" y="122560"/>
                  <a:pt x="64830" y="128632"/>
                  <a:pt x="54739" y="128632"/>
                </a:cubicBezTo>
                <a:lnTo>
                  <a:pt x="18931" y="128632"/>
                </a:lnTo>
                <a:cubicBezTo>
                  <a:pt x="40005" y="161583"/>
                  <a:pt x="73849" y="191899"/>
                  <a:pt x="95012" y="208062"/>
                </a:cubicBezTo>
                <a:cubicBezTo>
                  <a:pt x="100548" y="212259"/>
                  <a:pt x="107335" y="214357"/>
                  <a:pt x="114255" y="214357"/>
                </a:cubicBezTo>
                <a:cubicBezTo>
                  <a:pt x="121176" y="214357"/>
                  <a:pt x="128007" y="212303"/>
                  <a:pt x="133499" y="208062"/>
                </a:cubicBezTo>
                <a:cubicBezTo>
                  <a:pt x="154751" y="191854"/>
                  <a:pt x="188595" y="161538"/>
                  <a:pt x="209669" y="128588"/>
                </a:cubicBezTo>
                <a:close/>
              </a:path>
            </a:pathLst>
          </a:custGeom>
          <a:solidFill>
            <a:srgbClr val="F8F7F4"/>
          </a:solidFill>
          <a:ln/>
        </p:spPr>
      </p:sp>
      <p:sp>
        <p:nvSpPr>
          <p:cNvPr id="21" name="Text 19"/>
          <p:cNvSpPr/>
          <p:nvPr/>
        </p:nvSpPr>
        <p:spPr>
          <a:xfrm>
            <a:off x="1333500" y="3829050"/>
            <a:ext cx="223837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4F4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Бърза медицинска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4F4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логистика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7700" y="4572000"/>
            <a:ext cx="5200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2D2D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Моментално идентифициране на най-близките болници и аптеки с оптимизирани маршрути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0300" y="3600450"/>
            <a:ext cx="5600700" cy="1695450"/>
          </a:xfrm>
          <a:custGeom>
            <a:avLst/>
            <a:gdLst/>
            <a:ahLst/>
            <a:cxnLst/>
            <a:rect l="l" t="t" r="r" b="b"/>
            <a:pathLst>
              <a:path w="5600700" h="1695450">
                <a:moveTo>
                  <a:pt x="38100" y="0"/>
                </a:moveTo>
                <a:lnTo>
                  <a:pt x="5448296" y="0"/>
                </a:lnTo>
                <a:cubicBezTo>
                  <a:pt x="5532410" y="0"/>
                  <a:pt x="5600700" y="68290"/>
                  <a:pt x="5600700" y="152404"/>
                </a:cubicBezTo>
                <a:lnTo>
                  <a:pt x="5600700" y="1543046"/>
                </a:lnTo>
                <a:cubicBezTo>
                  <a:pt x="5600700" y="1627160"/>
                  <a:pt x="5532410" y="1695450"/>
                  <a:pt x="5448296" y="1695450"/>
                </a:cubicBezTo>
                <a:lnTo>
                  <a:pt x="38100" y="1695450"/>
                </a:lnTo>
                <a:cubicBezTo>
                  <a:pt x="17072" y="1695450"/>
                  <a:pt x="0" y="1678378"/>
                  <a:pt x="0" y="1657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0300" y="3600450"/>
            <a:ext cx="38100" cy="1695450"/>
          </a:xfrm>
          <a:custGeom>
            <a:avLst/>
            <a:gdLst/>
            <a:ahLst/>
            <a:cxnLst/>
            <a:rect l="l" t="t" r="r" b="b"/>
            <a:pathLst>
              <a:path w="38100" h="1695450">
                <a:moveTo>
                  <a:pt x="38100" y="0"/>
                </a:moveTo>
                <a:lnTo>
                  <a:pt x="38100" y="0"/>
                </a:lnTo>
                <a:lnTo>
                  <a:pt x="38100" y="1695450"/>
                </a:lnTo>
                <a:lnTo>
                  <a:pt x="38100" y="1695450"/>
                </a:lnTo>
                <a:cubicBezTo>
                  <a:pt x="17072" y="1695450"/>
                  <a:pt x="0" y="1678378"/>
                  <a:pt x="0" y="1657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25" name="Shape 23"/>
          <p:cNvSpPr/>
          <p:nvPr/>
        </p:nvSpPr>
        <p:spPr>
          <a:xfrm>
            <a:off x="6457950" y="38576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26" name="Shape 24"/>
          <p:cNvSpPr/>
          <p:nvPr/>
        </p:nvSpPr>
        <p:spPr>
          <a:xfrm>
            <a:off x="6624638" y="401002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42863" y="228600"/>
                </a:moveTo>
                <a:lnTo>
                  <a:pt x="185738" y="228600"/>
                </a:lnTo>
                <a:cubicBezTo>
                  <a:pt x="193640" y="228600"/>
                  <a:pt x="200025" y="222215"/>
                  <a:pt x="200025" y="214313"/>
                </a:cubicBezTo>
                <a:cubicBezTo>
                  <a:pt x="200025" y="206410"/>
                  <a:pt x="193640" y="200025"/>
                  <a:pt x="185738" y="200025"/>
                </a:cubicBezTo>
                <a:lnTo>
                  <a:pt x="185738" y="170244"/>
                </a:lnTo>
                <a:cubicBezTo>
                  <a:pt x="194042" y="167298"/>
                  <a:pt x="200025" y="159350"/>
                  <a:pt x="200025" y="150019"/>
                </a:cubicBezTo>
                <a:lnTo>
                  <a:pt x="200025" y="21431"/>
                </a:lnTo>
                <a:cubicBezTo>
                  <a:pt x="200025" y="9599"/>
                  <a:pt x="190426" y="0"/>
                  <a:pt x="178594" y="0"/>
                </a:cubicBezTo>
                <a:lnTo>
                  <a:pt x="42863" y="0"/>
                </a:lnTo>
                <a:cubicBezTo>
                  <a:pt x="19199" y="0"/>
                  <a:pt x="0" y="19199"/>
                  <a:pt x="0" y="42863"/>
                </a:cubicBezTo>
                <a:lnTo>
                  <a:pt x="0" y="185738"/>
                </a:lnTo>
                <a:cubicBezTo>
                  <a:pt x="0" y="209401"/>
                  <a:pt x="19199" y="228600"/>
                  <a:pt x="42863" y="228600"/>
                </a:cubicBezTo>
                <a:close/>
                <a:moveTo>
                  <a:pt x="28575" y="185738"/>
                </a:moveTo>
                <a:cubicBezTo>
                  <a:pt x="28575" y="177835"/>
                  <a:pt x="34960" y="171450"/>
                  <a:pt x="42863" y="171450"/>
                </a:cubicBezTo>
                <a:lnTo>
                  <a:pt x="157163" y="171450"/>
                </a:lnTo>
                <a:lnTo>
                  <a:pt x="157163" y="200025"/>
                </a:lnTo>
                <a:lnTo>
                  <a:pt x="42863" y="200025"/>
                </a:lnTo>
                <a:cubicBezTo>
                  <a:pt x="34960" y="200025"/>
                  <a:pt x="28575" y="193640"/>
                  <a:pt x="28575" y="185738"/>
                </a:cubicBezTo>
                <a:close/>
                <a:moveTo>
                  <a:pt x="85725" y="53578"/>
                </a:moveTo>
                <a:cubicBezTo>
                  <a:pt x="85725" y="49649"/>
                  <a:pt x="88940" y="46434"/>
                  <a:pt x="92869" y="46434"/>
                </a:cubicBezTo>
                <a:lnTo>
                  <a:pt x="107156" y="46434"/>
                </a:lnTo>
                <a:cubicBezTo>
                  <a:pt x="111085" y="46434"/>
                  <a:pt x="114300" y="49649"/>
                  <a:pt x="114300" y="53578"/>
                </a:cubicBezTo>
                <a:lnTo>
                  <a:pt x="114300" y="71438"/>
                </a:lnTo>
                <a:lnTo>
                  <a:pt x="132159" y="71438"/>
                </a:lnTo>
                <a:cubicBezTo>
                  <a:pt x="136088" y="71438"/>
                  <a:pt x="139303" y="74652"/>
                  <a:pt x="139303" y="78581"/>
                </a:cubicBezTo>
                <a:lnTo>
                  <a:pt x="139303" y="92869"/>
                </a:lnTo>
                <a:cubicBezTo>
                  <a:pt x="139303" y="96798"/>
                  <a:pt x="136088" y="100013"/>
                  <a:pt x="132159" y="100013"/>
                </a:cubicBezTo>
                <a:lnTo>
                  <a:pt x="114300" y="100013"/>
                </a:lnTo>
                <a:lnTo>
                  <a:pt x="114300" y="117872"/>
                </a:lnTo>
                <a:cubicBezTo>
                  <a:pt x="114300" y="121801"/>
                  <a:pt x="111085" y="125016"/>
                  <a:pt x="107156" y="125016"/>
                </a:cubicBezTo>
                <a:lnTo>
                  <a:pt x="92869" y="125016"/>
                </a:lnTo>
                <a:cubicBezTo>
                  <a:pt x="88940" y="125016"/>
                  <a:pt x="85725" y="121801"/>
                  <a:pt x="85725" y="117872"/>
                </a:cubicBezTo>
                <a:lnTo>
                  <a:pt x="85725" y="100013"/>
                </a:lnTo>
                <a:lnTo>
                  <a:pt x="67866" y="100013"/>
                </a:lnTo>
                <a:cubicBezTo>
                  <a:pt x="63937" y="100013"/>
                  <a:pt x="60722" y="96798"/>
                  <a:pt x="60722" y="92869"/>
                </a:cubicBezTo>
                <a:lnTo>
                  <a:pt x="60722" y="78581"/>
                </a:lnTo>
                <a:cubicBezTo>
                  <a:pt x="60722" y="74652"/>
                  <a:pt x="63937" y="71438"/>
                  <a:pt x="67866" y="71438"/>
                </a:cubicBezTo>
                <a:lnTo>
                  <a:pt x="85725" y="71438"/>
                </a:lnTo>
                <a:lnTo>
                  <a:pt x="85725" y="53578"/>
                </a:lnTo>
                <a:close/>
              </a:path>
            </a:pathLst>
          </a:custGeom>
          <a:solidFill>
            <a:srgbClr val="F8F7F4"/>
          </a:solidFill>
          <a:ln/>
        </p:spPr>
      </p:sp>
      <p:sp>
        <p:nvSpPr>
          <p:cNvPr id="27" name="Text 25"/>
          <p:cNvSpPr/>
          <p:nvPr/>
        </p:nvSpPr>
        <p:spPr>
          <a:xfrm>
            <a:off x="7143750" y="3829050"/>
            <a:ext cx="187642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4F4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Ръководства за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4F4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оцеляване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57950" y="4572000"/>
            <a:ext cx="5200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2D2D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Стъпка по стъпка инструкции за спешни ситуации, достъпни за всички възрастови групи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1000" y="5486400"/>
            <a:ext cx="11430000" cy="990600"/>
          </a:xfrm>
          <a:custGeom>
            <a:avLst/>
            <a:gdLst/>
            <a:ahLst/>
            <a:cxnLst/>
            <a:rect l="l" t="t" r="r" b="b"/>
            <a:pathLst>
              <a:path w="11430000" h="990600">
                <a:moveTo>
                  <a:pt x="152404" y="0"/>
                </a:moveTo>
                <a:lnTo>
                  <a:pt x="11277596" y="0"/>
                </a:lnTo>
                <a:cubicBezTo>
                  <a:pt x="11361766" y="0"/>
                  <a:pt x="11430000" y="68234"/>
                  <a:pt x="11430000" y="152404"/>
                </a:cubicBezTo>
                <a:lnTo>
                  <a:pt x="11430000" y="838196"/>
                </a:lnTo>
                <a:cubicBezTo>
                  <a:pt x="11430000" y="922366"/>
                  <a:pt x="11361766" y="990600"/>
                  <a:pt x="11277596" y="990600"/>
                </a:cubicBezTo>
                <a:lnTo>
                  <a:pt x="152404" y="990600"/>
                </a:lnTo>
                <a:cubicBezTo>
                  <a:pt x="68234" y="990600"/>
                  <a:pt x="0" y="922366"/>
                  <a:pt x="0" y="838196"/>
                </a:cubicBezTo>
                <a:lnTo>
                  <a:pt x="0" y="152404"/>
                </a:lnTo>
                <a:cubicBezTo>
                  <a:pt x="0" y="68290"/>
                  <a:pt x="68290" y="0"/>
                  <a:pt x="152404" y="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30" name="Text 28"/>
          <p:cNvSpPr/>
          <p:nvPr/>
        </p:nvSpPr>
        <p:spPr>
          <a:xfrm>
            <a:off x="1170384" y="5676900"/>
            <a:ext cx="20097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C97B6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15,611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22772" y="60960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7F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кризисни събития през 2024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459188" y="5753100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9525" y="0"/>
                </a:lnTo>
                <a:lnTo>
                  <a:pt x="952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8F7F4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752356" y="5676900"/>
            <a:ext cx="1095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C97B6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630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804743" y="6096000"/>
            <a:ext cx="99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7F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загинали лица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128546" y="5753100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9525" y="0"/>
                </a:lnTo>
                <a:lnTo>
                  <a:pt x="952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8F7F4">
              <a:alpha val="2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9421713" y="5676900"/>
            <a:ext cx="1600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C97B6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1.3M+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474101" y="6096000"/>
            <a:ext cx="1495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7F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засегнати от бедствия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1038225"/>
            <a:ext cx="1362075" cy="304800"/>
          </a:xfrm>
          <a:custGeom>
            <a:avLst/>
            <a:gdLst/>
            <a:ahLst/>
            <a:cxnLst/>
            <a:rect l="l" t="t" r="r" b="b"/>
            <a:pathLst>
              <a:path w="1362075" h="304800">
                <a:moveTo>
                  <a:pt x="152400" y="0"/>
                </a:moveTo>
                <a:lnTo>
                  <a:pt x="1209675" y="0"/>
                </a:lnTo>
                <a:cubicBezTo>
                  <a:pt x="1293787" y="0"/>
                  <a:pt x="1362075" y="68288"/>
                  <a:pt x="1362075" y="152400"/>
                </a:cubicBezTo>
                <a:lnTo>
                  <a:pt x="1362075" y="152400"/>
                </a:lnTo>
                <a:cubicBezTo>
                  <a:pt x="1362075" y="236512"/>
                  <a:pt x="1293787" y="304800"/>
                  <a:pt x="1209675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3" name="Text 1"/>
          <p:cNvSpPr/>
          <p:nvPr/>
        </p:nvSpPr>
        <p:spPr>
          <a:xfrm>
            <a:off x="619125" y="1038225"/>
            <a:ext cx="112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F8F7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Компонент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495425"/>
            <a:ext cx="5791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3A4F4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Интерактивна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3A4F4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карта на риска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2752725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97B61"/>
          </a:solidFill>
          <a:ln/>
        </p:spPr>
      </p:sp>
      <p:sp>
        <p:nvSpPr>
          <p:cNvPr id="6" name="Shape 4"/>
          <p:cNvSpPr/>
          <p:nvPr/>
        </p:nvSpPr>
        <p:spPr>
          <a:xfrm>
            <a:off x="381000" y="31337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97B61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02444" y="32670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7156" y="11906"/>
                </a:moveTo>
                <a:cubicBezTo>
                  <a:pt x="77093" y="11906"/>
                  <a:pt x="53020" y="25598"/>
                  <a:pt x="35496" y="41895"/>
                </a:cubicBezTo>
                <a:cubicBezTo>
                  <a:pt x="18083" y="58080"/>
                  <a:pt x="6437" y="77391"/>
                  <a:pt x="893" y="90674"/>
                </a:cubicBezTo>
                <a:cubicBezTo>
                  <a:pt x="-335" y="93613"/>
                  <a:pt x="-335" y="96887"/>
                  <a:pt x="893" y="99826"/>
                </a:cubicBezTo>
                <a:cubicBezTo>
                  <a:pt x="6437" y="113109"/>
                  <a:pt x="18083" y="132457"/>
                  <a:pt x="35496" y="148605"/>
                </a:cubicBezTo>
                <a:cubicBezTo>
                  <a:pt x="53020" y="164864"/>
                  <a:pt x="77093" y="178594"/>
                  <a:pt x="107156" y="178594"/>
                </a:cubicBezTo>
                <a:cubicBezTo>
                  <a:pt x="137220" y="178594"/>
                  <a:pt x="161292" y="164902"/>
                  <a:pt x="178817" y="148605"/>
                </a:cubicBezTo>
                <a:cubicBezTo>
                  <a:pt x="196230" y="132420"/>
                  <a:pt x="207876" y="113109"/>
                  <a:pt x="213420" y="99826"/>
                </a:cubicBezTo>
                <a:cubicBezTo>
                  <a:pt x="214647" y="96887"/>
                  <a:pt x="214647" y="93613"/>
                  <a:pt x="213420" y="90674"/>
                </a:cubicBezTo>
                <a:cubicBezTo>
                  <a:pt x="207876" y="77391"/>
                  <a:pt x="196230" y="58043"/>
                  <a:pt x="178817" y="41895"/>
                </a:cubicBezTo>
                <a:cubicBezTo>
                  <a:pt x="161292" y="25636"/>
                  <a:pt x="137220" y="11906"/>
                  <a:pt x="107156" y="11906"/>
                </a:cubicBezTo>
                <a:close/>
                <a:moveTo>
                  <a:pt x="53578" y="95250"/>
                </a:moveTo>
                <a:cubicBezTo>
                  <a:pt x="53578" y="65679"/>
                  <a:pt x="77586" y="41672"/>
                  <a:pt x="107156" y="41672"/>
                </a:cubicBezTo>
                <a:cubicBezTo>
                  <a:pt x="136727" y="41672"/>
                  <a:pt x="160734" y="65679"/>
                  <a:pt x="160734" y="95250"/>
                </a:cubicBezTo>
                <a:cubicBezTo>
                  <a:pt x="160734" y="124821"/>
                  <a:pt x="136727" y="148828"/>
                  <a:pt x="107156" y="148828"/>
                </a:cubicBezTo>
                <a:cubicBezTo>
                  <a:pt x="77586" y="148828"/>
                  <a:pt x="53578" y="124821"/>
                  <a:pt x="53578" y="95250"/>
                </a:cubicBezTo>
                <a:close/>
                <a:moveTo>
                  <a:pt x="107156" y="71438"/>
                </a:moveTo>
                <a:cubicBezTo>
                  <a:pt x="107156" y="84572"/>
                  <a:pt x="96478" y="95250"/>
                  <a:pt x="83344" y="95250"/>
                </a:cubicBezTo>
                <a:cubicBezTo>
                  <a:pt x="79065" y="95250"/>
                  <a:pt x="75047" y="94134"/>
                  <a:pt x="71549" y="92125"/>
                </a:cubicBezTo>
                <a:cubicBezTo>
                  <a:pt x="71177" y="96180"/>
                  <a:pt x="71512" y="100347"/>
                  <a:pt x="72628" y="104477"/>
                </a:cubicBezTo>
                <a:cubicBezTo>
                  <a:pt x="77725" y="123527"/>
                  <a:pt x="97334" y="134838"/>
                  <a:pt x="116384" y="129741"/>
                </a:cubicBezTo>
                <a:cubicBezTo>
                  <a:pt x="135434" y="124644"/>
                  <a:pt x="146745" y="105035"/>
                  <a:pt x="141647" y="85985"/>
                </a:cubicBezTo>
                <a:cubicBezTo>
                  <a:pt x="137108" y="68982"/>
                  <a:pt x="120997" y="58155"/>
                  <a:pt x="104031" y="59643"/>
                </a:cubicBezTo>
                <a:cubicBezTo>
                  <a:pt x="106003" y="63103"/>
                  <a:pt x="107156" y="67121"/>
                  <a:pt x="107156" y="71438"/>
                </a:cubicBezTo>
                <a:close/>
              </a:path>
            </a:pathLst>
          </a:custGeom>
          <a:solidFill>
            <a:srgbClr val="C97B61"/>
          </a:solidFill>
          <a:ln/>
        </p:spPr>
      </p:sp>
      <p:sp>
        <p:nvSpPr>
          <p:cNvPr id="8" name="Text 6"/>
          <p:cNvSpPr/>
          <p:nvPr/>
        </p:nvSpPr>
        <p:spPr>
          <a:xfrm>
            <a:off x="990600" y="3095625"/>
            <a:ext cx="504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A4F4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Визуална категоризация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90600" y="3438525"/>
            <a:ext cx="5029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2D2D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Селските райони са цветово кодирани според уязвимостта към конкретни заплахи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000" y="4200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97B61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14350" y="43338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C97B61"/>
          </a:solidFill>
          <a:ln/>
        </p:spPr>
      </p:sp>
      <p:sp>
        <p:nvSpPr>
          <p:cNvPr id="12" name="Text 10"/>
          <p:cNvSpPr/>
          <p:nvPr/>
        </p:nvSpPr>
        <p:spPr>
          <a:xfrm>
            <a:off x="990600" y="4162425"/>
            <a:ext cx="504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A4F4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Идентифициране на рискове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90600" y="4505325"/>
            <a:ext cx="5029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2D2D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Наводнения, пожари, земетресения - всяка заплаха е ясно маркирана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1000" y="52673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97B61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26256" y="54006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C97B61"/>
          </a:solidFill>
          <a:ln/>
        </p:spPr>
      </p:sp>
      <p:sp>
        <p:nvSpPr>
          <p:cNvPr id="16" name="Text 14"/>
          <p:cNvSpPr/>
          <p:nvPr/>
        </p:nvSpPr>
        <p:spPr>
          <a:xfrm>
            <a:off x="990600" y="5229225"/>
            <a:ext cx="4962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A4F4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Бърз преглед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90600" y="5572125"/>
            <a:ext cx="49434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2D2D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Властите и жителите виждат високорисковите зони с един поглед</a:t>
            </a:r>
            <a:endParaRPr lang="en-US" sz="1600" dirty="0"/>
          </a:p>
        </p:txBody>
      </p:sp>
      <p:pic>
        <p:nvPicPr>
          <p:cNvPr id="18" name="Image 0" descr="https://kimi-web-img.moonshot.cn/img/archive.cdc.gov/d7114dcffb745cf7d04bb7f8db4ccae2f882b62c.jpg"/>
          <p:cNvPicPr>
            <a:picLocks noChangeAspect="1"/>
          </p:cNvPicPr>
          <p:nvPr/>
        </p:nvPicPr>
        <p:blipFill>
          <a:blip r:embed="rId3"/>
          <a:srcRect l="13411" r="13411"/>
          <a:stretch/>
        </p:blipFill>
        <p:spPr>
          <a:xfrm>
            <a:off x="6248400" y="381000"/>
            <a:ext cx="5562600" cy="4857750"/>
          </a:xfrm>
          <a:prstGeom prst="roundRect">
            <a:avLst>
              <a:gd name="adj" fmla="val 3137"/>
            </a:avLst>
          </a:prstGeom>
        </p:spPr>
      </p:pic>
      <p:sp>
        <p:nvSpPr>
          <p:cNvPr id="19" name="Shape 16"/>
          <p:cNvSpPr/>
          <p:nvPr/>
        </p:nvSpPr>
        <p:spPr>
          <a:xfrm>
            <a:off x="6248400" y="381000"/>
            <a:ext cx="5562600" cy="4857750"/>
          </a:xfrm>
          <a:custGeom>
            <a:avLst/>
            <a:gdLst/>
            <a:ahLst/>
            <a:cxnLst/>
            <a:rect l="l" t="t" r="r" b="b"/>
            <a:pathLst>
              <a:path w="5562600" h="4857750">
                <a:moveTo>
                  <a:pt x="0" y="0"/>
                </a:moveTo>
                <a:lnTo>
                  <a:pt x="5562600" y="0"/>
                </a:lnTo>
                <a:lnTo>
                  <a:pt x="5562600" y="4857750"/>
                </a:lnTo>
                <a:lnTo>
                  <a:pt x="0" y="48577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A4F41">
                  <a:alpha val="9000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20" name="Text 17"/>
          <p:cNvSpPr/>
          <p:nvPr/>
        </p:nvSpPr>
        <p:spPr>
          <a:xfrm>
            <a:off x="6477000" y="4457700"/>
            <a:ext cx="51911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8F7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През 2024 г. 38 бедствени положения са засегнали 1.3 милиона души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248400" y="5429250"/>
            <a:ext cx="1752600" cy="1047750"/>
          </a:xfrm>
          <a:custGeom>
            <a:avLst/>
            <a:gdLst/>
            <a:ahLst/>
            <a:cxnLst/>
            <a:rect l="l" t="t" r="r" b="b"/>
            <a:pathLst>
              <a:path w="1752600" h="1047750">
                <a:moveTo>
                  <a:pt x="114299" y="0"/>
                </a:moveTo>
                <a:lnTo>
                  <a:pt x="1638301" y="0"/>
                </a:lnTo>
                <a:cubicBezTo>
                  <a:pt x="1701427" y="0"/>
                  <a:pt x="1752600" y="51173"/>
                  <a:pt x="1752600" y="114299"/>
                </a:cubicBezTo>
                <a:lnTo>
                  <a:pt x="1752600" y="933451"/>
                </a:lnTo>
                <a:cubicBezTo>
                  <a:pt x="1752600" y="996577"/>
                  <a:pt x="1701427" y="1047750"/>
                  <a:pt x="1638301" y="1047750"/>
                </a:cubicBezTo>
                <a:lnTo>
                  <a:pt x="114299" y="1047750"/>
                </a:lnTo>
                <a:cubicBezTo>
                  <a:pt x="51173" y="1047750"/>
                  <a:pt x="0" y="996577"/>
                  <a:pt x="0" y="93345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22" name="Shape 19"/>
          <p:cNvSpPr/>
          <p:nvPr/>
        </p:nvSpPr>
        <p:spPr>
          <a:xfrm>
            <a:off x="7010400" y="55816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3326" y="55409"/>
                </a:moveTo>
                <a:cubicBezTo>
                  <a:pt x="192569" y="62374"/>
                  <a:pt x="203865" y="69116"/>
                  <a:pt x="216456" y="70812"/>
                </a:cubicBezTo>
                <a:cubicBezTo>
                  <a:pt x="222305" y="71616"/>
                  <a:pt x="227707" y="67464"/>
                  <a:pt x="228511" y="61615"/>
                </a:cubicBezTo>
                <a:cubicBezTo>
                  <a:pt x="229314" y="55766"/>
                  <a:pt x="225162" y="50363"/>
                  <a:pt x="219313" y="49560"/>
                </a:cubicBezTo>
                <a:cubicBezTo>
                  <a:pt x="212214" y="48622"/>
                  <a:pt x="204490" y="44514"/>
                  <a:pt x="196230" y="38308"/>
                </a:cubicBezTo>
                <a:cubicBezTo>
                  <a:pt x="179085" y="25360"/>
                  <a:pt x="155823" y="25360"/>
                  <a:pt x="138633" y="38308"/>
                </a:cubicBezTo>
                <a:cubicBezTo>
                  <a:pt x="127918" y="46390"/>
                  <a:pt x="120461" y="50051"/>
                  <a:pt x="114300" y="50051"/>
                </a:cubicBezTo>
                <a:cubicBezTo>
                  <a:pt x="108139" y="50051"/>
                  <a:pt x="100682" y="46390"/>
                  <a:pt x="89967" y="38308"/>
                </a:cubicBezTo>
                <a:cubicBezTo>
                  <a:pt x="72822" y="25360"/>
                  <a:pt x="49560" y="25360"/>
                  <a:pt x="32370" y="38308"/>
                </a:cubicBezTo>
                <a:cubicBezTo>
                  <a:pt x="24110" y="44514"/>
                  <a:pt x="16386" y="48622"/>
                  <a:pt x="9287" y="49560"/>
                </a:cubicBezTo>
                <a:cubicBezTo>
                  <a:pt x="3438" y="50363"/>
                  <a:pt x="-714" y="55721"/>
                  <a:pt x="89" y="61615"/>
                </a:cubicBezTo>
                <a:cubicBezTo>
                  <a:pt x="893" y="67508"/>
                  <a:pt x="6251" y="71616"/>
                  <a:pt x="12144" y="70812"/>
                </a:cubicBezTo>
                <a:cubicBezTo>
                  <a:pt x="24735" y="69116"/>
                  <a:pt x="36076" y="62374"/>
                  <a:pt x="45274" y="55409"/>
                </a:cubicBezTo>
                <a:cubicBezTo>
                  <a:pt x="54784" y="48220"/>
                  <a:pt x="67553" y="48220"/>
                  <a:pt x="77063" y="55409"/>
                </a:cubicBezTo>
                <a:cubicBezTo>
                  <a:pt x="87868" y="63579"/>
                  <a:pt x="100414" y="71438"/>
                  <a:pt x="114300" y="71438"/>
                </a:cubicBezTo>
                <a:cubicBezTo>
                  <a:pt x="128186" y="71438"/>
                  <a:pt x="140687" y="63535"/>
                  <a:pt x="151537" y="55409"/>
                </a:cubicBezTo>
                <a:cubicBezTo>
                  <a:pt x="161047" y="48220"/>
                  <a:pt x="173816" y="48220"/>
                  <a:pt x="183326" y="55409"/>
                </a:cubicBezTo>
                <a:close/>
                <a:moveTo>
                  <a:pt x="183326" y="119702"/>
                </a:moveTo>
                <a:cubicBezTo>
                  <a:pt x="192569" y="126668"/>
                  <a:pt x="203865" y="133410"/>
                  <a:pt x="216456" y="135106"/>
                </a:cubicBezTo>
                <a:cubicBezTo>
                  <a:pt x="222305" y="135910"/>
                  <a:pt x="227707" y="131758"/>
                  <a:pt x="228511" y="125909"/>
                </a:cubicBezTo>
                <a:cubicBezTo>
                  <a:pt x="229314" y="120060"/>
                  <a:pt x="225162" y="114657"/>
                  <a:pt x="219313" y="113854"/>
                </a:cubicBezTo>
                <a:cubicBezTo>
                  <a:pt x="212214" y="112916"/>
                  <a:pt x="204490" y="108808"/>
                  <a:pt x="196230" y="102602"/>
                </a:cubicBezTo>
                <a:cubicBezTo>
                  <a:pt x="179085" y="89654"/>
                  <a:pt x="155823" y="89654"/>
                  <a:pt x="138633" y="102602"/>
                </a:cubicBezTo>
                <a:cubicBezTo>
                  <a:pt x="127918" y="110683"/>
                  <a:pt x="120461" y="114345"/>
                  <a:pt x="114300" y="114345"/>
                </a:cubicBezTo>
                <a:cubicBezTo>
                  <a:pt x="108139" y="114345"/>
                  <a:pt x="100682" y="110683"/>
                  <a:pt x="89967" y="102602"/>
                </a:cubicBezTo>
                <a:cubicBezTo>
                  <a:pt x="72822" y="89654"/>
                  <a:pt x="49560" y="89654"/>
                  <a:pt x="32370" y="102602"/>
                </a:cubicBezTo>
                <a:cubicBezTo>
                  <a:pt x="24110" y="108808"/>
                  <a:pt x="16386" y="112916"/>
                  <a:pt x="9287" y="113854"/>
                </a:cubicBezTo>
                <a:cubicBezTo>
                  <a:pt x="3438" y="114613"/>
                  <a:pt x="-714" y="120015"/>
                  <a:pt x="89" y="125909"/>
                </a:cubicBezTo>
                <a:cubicBezTo>
                  <a:pt x="893" y="131802"/>
                  <a:pt x="6251" y="135910"/>
                  <a:pt x="12144" y="135106"/>
                </a:cubicBezTo>
                <a:cubicBezTo>
                  <a:pt x="24735" y="133410"/>
                  <a:pt x="36076" y="126668"/>
                  <a:pt x="45274" y="119702"/>
                </a:cubicBezTo>
                <a:cubicBezTo>
                  <a:pt x="54784" y="112514"/>
                  <a:pt x="67553" y="112514"/>
                  <a:pt x="77063" y="119702"/>
                </a:cubicBezTo>
                <a:cubicBezTo>
                  <a:pt x="87868" y="127873"/>
                  <a:pt x="100414" y="135731"/>
                  <a:pt x="114300" y="135731"/>
                </a:cubicBezTo>
                <a:cubicBezTo>
                  <a:pt x="128186" y="135731"/>
                  <a:pt x="140687" y="127828"/>
                  <a:pt x="151537" y="119702"/>
                </a:cubicBezTo>
                <a:cubicBezTo>
                  <a:pt x="161047" y="112514"/>
                  <a:pt x="173816" y="112514"/>
                  <a:pt x="183326" y="119702"/>
                </a:cubicBezTo>
                <a:close/>
                <a:moveTo>
                  <a:pt x="151537" y="183996"/>
                </a:moveTo>
                <a:cubicBezTo>
                  <a:pt x="161047" y="176808"/>
                  <a:pt x="173816" y="176808"/>
                  <a:pt x="183326" y="183996"/>
                </a:cubicBezTo>
                <a:cubicBezTo>
                  <a:pt x="192569" y="190961"/>
                  <a:pt x="203865" y="197703"/>
                  <a:pt x="216456" y="199400"/>
                </a:cubicBezTo>
                <a:cubicBezTo>
                  <a:pt x="222305" y="200204"/>
                  <a:pt x="227707" y="196051"/>
                  <a:pt x="228511" y="190202"/>
                </a:cubicBezTo>
                <a:cubicBezTo>
                  <a:pt x="229314" y="184353"/>
                  <a:pt x="225162" y="178951"/>
                  <a:pt x="219313" y="178147"/>
                </a:cubicBezTo>
                <a:cubicBezTo>
                  <a:pt x="212214" y="177210"/>
                  <a:pt x="204490" y="173102"/>
                  <a:pt x="196230" y="166896"/>
                </a:cubicBezTo>
                <a:cubicBezTo>
                  <a:pt x="179085" y="153948"/>
                  <a:pt x="155823" y="153948"/>
                  <a:pt x="138633" y="166896"/>
                </a:cubicBezTo>
                <a:cubicBezTo>
                  <a:pt x="127918" y="174977"/>
                  <a:pt x="120461" y="178638"/>
                  <a:pt x="114300" y="178638"/>
                </a:cubicBezTo>
                <a:cubicBezTo>
                  <a:pt x="108139" y="178638"/>
                  <a:pt x="100682" y="174977"/>
                  <a:pt x="89967" y="166896"/>
                </a:cubicBezTo>
                <a:cubicBezTo>
                  <a:pt x="72822" y="153948"/>
                  <a:pt x="49560" y="153948"/>
                  <a:pt x="32370" y="166896"/>
                </a:cubicBezTo>
                <a:cubicBezTo>
                  <a:pt x="24110" y="173102"/>
                  <a:pt x="16386" y="177210"/>
                  <a:pt x="9287" y="178147"/>
                </a:cubicBezTo>
                <a:cubicBezTo>
                  <a:pt x="3438" y="178951"/>
                  <a:pt x="-714" y="184309"/>
                  <a:pt x="89" y="190202"/>
                </a:cubicBezTo>
                <a:cubicBezTo>
                  <a:pt x="893" y="196096"/>
                  <a:pt x="6251" y="200204"/>
                  <a:pt x="12144" y="199400"/>
                </a:cubicBezTo>
                <a:cubicBezTo>
                  <a:pt x="24735" y="197703"/>
                  <a:pt x="36076" y="190961"/>
                  <a:pt x="45274" y="183996"/>
                </a:cubicBezTo>
                <a:cubicBezTo>
                  <a:pt x="54784" y="176808"/>
                  <a:pt x="67553" y="176808"/>
                  <a:pt x="77063" y="183996"/>
                </a:cubicBezTo>
                <a:cubicBezTo>
                  <a:pt x="87868" y="192167"/>
                  <a:pt x="100414" y="200025"/>
                  <a:pt x="114300" y="200025"/>
                </a:cubicBezTo>
                <a:cubicBezTo>
                  <a:pt x="128186" y="200025"/>
                  <a:pt x="140687" y="192122"/>
                  <a:pt x="151537" y="183996"/>
                </a:cubicBezTo>
                <a:close/>
              </a:path>
            </a:pathLst>
          </a:custGeom>
          <a:solidFill>
            <a:srgbClr val="C97B61"/>
          </a:solidFill>
          <a:ln/>
        </p:spPr>
      </p:sp>
      <p:sp>
        <p:nvSpPr>
          <p:cNvPr id="23" name="Text 20"/>
          <p:cNvSpPr/>
          <p:nvPr/>
        </p:nvSpPr>
        <p:spPr>
          <a:xfrm>
            <a:off x="6343650" y="5886450"/>
            <a:ext cx="15621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8F7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32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372225" y="6181725"/>
            <a:ext cx="15049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8F7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наводнения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8153400" y="5429250"/>
            <a:ext cx="1752600" cy="1047750"/>
          </a:xfrm>
          <a:custGeom>
            <a:avLst/>
            <a:gdLst/>
            <a:ahLst/>
            <a:cxnLst/>
            <a:rect l="l" t="t" r="r" b="b"/>
            <a:pathLst>
              <a:path w="1752600" h="1047750">
                <a:moveTo>
                  <a:pt x="114299" y="0"/>
                </a:moveTo>
                <a:lnTo>
                  <a:pt x="1638301" y="0"/>
                </a:lnTo>
                <a:cubicBezTo>
                  <a:pt x="1701427" y="0"/>
                  <a:pt x="1752600" y="51173"/>
                  <a:pt x="1752600" y="114299"/>
                </a:cubicBezTo>
                <a:lnTo>
                  <a:pt x="1752600" y="933451"/>
                </a:lnTo>
                <a:cubicBezTo>
                  <a:pt x="1752600" y="996577"/>
                  <a:pt x="1701427" y="1047750"/>
                  <a:pt x="1638301" y="1047750"/>
                </a:cubicBezTo>
                <a:lnTo>
                  <a:pt x="114299" y="1047750"/>
                </a:lnTo>
                <a:cubicBezTo>
                  <a:pt x="51173" y="1047750"/>
                  <a:pt x="0" y="996577"/>
                  <a:pt x="0" y="93345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C97B61"/>
          </a:solidFill>
          <a:ln/>
        </p:spPr>
      </p:sp>
      <p:sp>
        <p:nvSpPr>
          <p:cNvPr id="26" name="Shape 23"/>
          <p:cNvSpPr/>
          <p:nvPr/>
        </p:nvSpPr>
        <p:spPr>
          <a:xfrm>
            <a:off x="8929688" y="55816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71661" y="-11787"/>
                </a:moveTo>
                <a:cubicBezTo>
                  <a:pt x="75813" y="-15270"/>
                  <a:pt x="81930" y="-15136"/>
                  <a:pt x="85904" y="-11385"/>
                </a:cubicBezTo>
                <a:cubicBezTo>
                  <a:pt x="91395" y="-6206"/>
                  <a:pt x="96307" y="-491"/>
                  <a:pt x="101039" y="5313"/>
                </a:cubicBezTo>
                <a:cubicBezTo>
                  <a:pt x="107067" y="12680"/>
                  <a:pt x="114300" y="22414"/>
                  <a:pt x="121265" y="33977"/>
                </a:cubicBezTo>
                <a:cubicBezTo>
                  <a:pt x="123587" y="30941"/>
                  <a:pt x="125730" y="28262"/>
                  <a:pt x="127605" y="25985"/>
                </a:cubicBezTo>
                <a:cubicBezTo>
                  <a:pt x="128096" y="25405"/>
                  <a:pt x="128588" y="24780"/>
                  <a:pt x="129079" y="24155"/>
                </a:cubicBezTo>
                <a:cubicBezTo>
                  <a:pt x="132606" y="19779"/>
                  <a:pt x="136981" y="14287"/>
                  <a:pt x="142830" y="14287"/>
                </a:cubicBezTo>
                <a:cubicBezTo>
                  <a:pt x="148813" y="14287"/>
                  <a:pt x="153010" y="19601"/>
                  <a:pt x="156582" y="24155"/>
                </a:cubicBezTo>
                <a:cubicBezTo>
                  <a:pt x="157163" y="24914"/>
                  <a:pt x="157743" y="25628"/>
                  <a:pt x="158323" y="26298"/>
                </a:cubicBezTo>
                <a:cubicBezTo>
                  <a:pt x="162922" y="31834"/>
                  <a:pt x="169039" y="39826"/>
                  <a:pt x="175156" y="49694"/>
                </a:cubicBezTo>
                <a:cubicBezTo>
                  <a:pt x="187300" y="69294"/>
                  <a:pt x="199980" y="97200"/>
                  <a:pt x="199980" y="128543"/>
                </a:cubicBezTo>
                <a:cubicBezTo>
                  <a:pt x="199980" y="183773"/>
                  <a:pt x="155198" y="228555"/>
                  <a:pt x="99968" y="228555"/>
                </a:cubicBezTo>
                <a:cubicBezTo>
                  <a:pt x="44738" y="228555"/>
                  <a:pt x="0" y="183818"/>
                  <a:pt x="0" y="128588"/>
                </a:cubicBezTo>
                <a:cubicBezTo>
                  <a:pt x="0" y="87913"/>
                  <a:pt x="18351" y="52685"/>
                  <a:pt x="35942" y="28129"/>
                </a:cubicBezTo>
                <a:cubicBezTo>
                  <a:pt x="44827" y="15761"/>
                  <a:pt x="53667" y="5849"/>
                  <a:pt x="60320" y="-938"/>
                </a:cubicBezTo>
                <a:cubicBezTo>
                  <a:pt x="63981" y="-4688"/>
                  <a:pt x="67687" y="-8394"/>
                  <a:pt x="71705" y="-11743"/>
                </a:cubicBezTo>
                <a:close/>
                <a:moveTo>
                  <a:pt x="100772" y="185738"/>
                </a:moveTo>
                <a:cubicBezTo>
                  <a:pt x="112068" y="185738"/>
                  <a:pt x="122069" y="182612"/>
                  <a:pt x="131490" y="176361"/>
                </a:cubicBezTo>
                <a:cubicBezTo>
                  <a:pt x="150287" y="163235"/>
                  <a:pt x="155332" y="136981"/>
                  <a:pt x="144036" y="116354"/>
                </a:cubicBezTo>
                <a:cubicBezTo>
                  <a:pt x="142027" y="112335"/>
                  <a:pt x="136892" y="112068"/>
                  <a:pt x="133990" y="115461"/>
                </a:cubicBezTo>
                <a:lnTo>
                  <a:pt x="122739" y="128543"/>
                </a:lnTo>
                <a:cubicBezTo>
                  <a:pt x="119792" y="131936"/>
                  <a:pt x="114479" y="131847"/>
                  <a:pt x="111710" y="128320"/>
                </a:cubicBezTo>
                <a:cubicBezTo>
                  <a:pt x="103986" y="118452"/>
                  <a:pt x="89788" y="100459"/>
                  <a:pt x="82555" y="91261"/>
                </a:cubicBezTo>
                <a:cubicBezTo>
                  <a:pt x="80144" y="88181"/>
                  <a:pt x="75768" y="87690"/>
                  <a:pt x="72956" y="90413"/>
                </a:cubicBezTo>
                <a:cubicBezTo>
                  <a:pt x="64785" y="98361"/>
                  <a:pt x="49962" y="115773"/>
                  <a:pt x="49962" y="136981"/>
                </a:cubicBezTo>
                <a:cubicBezTo>
                  <a:pt x="49962" y="167610"/>
                  <a:pt x="72554" y="185738"/>
                  <a:pt x="100727" y="185738"/>
                </a:cubicBezTo>
                <a:close/>
              </a:path>
            </a:pathLst>
          </a:custGeom>
          <a:solidFill>
            <a:srgbClr val="F8F7F4"/>
          </a:solidFill>
          <a:ln/>
        </p:spPr>
      </p:sp>
      <p:sp>
        <p:nvSpPr>
          <p:cNvPr id="27" name="Text 24"/>
          <p:cNvSpPr/>
          <p:nvPr/>
        </p:nvSpPr>
        <p:spPr>
          <a:xfrm>
            <a:off x="8248650" y="5886450"/>
            <a:ext cx="15621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8F7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983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277225" y="6181725"/>
            <a:ext cx="15049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8F7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пожара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10058400" y="5429250"/>
            <a:ext cx="1752600" cy="1047750"/>
          </a:xfrm>
          <a:custGeom>
            <a:avLst/>
            <a:gdLst/>
            <a:ahLst/>
            <a:cxnLst/>
            <a:rect l="l" t="t" r="r" b="b"/>
            <a:pathLst>
              <a:path w="1752600" h="1047750">
                <a:moveTo>
                  <a:pt x="114299" y="0"/>
                </a:moveTo>
                <a:lnTo>
                  <a:pt x="1638301" y="0"/>
                </a:lnTo>
                <a:cubicBezTo>
                  <a:pt x="1701427" y="0"/>
                  <a:pt x="1752600" y="51173"/>
                  <a:pt x="1752600" y="114299"/>
                </a:cubicBezTo>
                <a:lnTo>
                  <a:pt x="1752600" y="933451"/>
                </a:lnTo>
                <a:cubicBezTo>
                  <a:pt x="1752600" y="996577"/>
                  <a:pt x="1701427" y="1047750"/>
                  <a:pt x="1638301" y="1047750"/>
                </a:cubicBezTo>
                <a:lnTo>
                  <a:pt x="114299" y="1047750"/>
                </a:lnTo>
                <a:cubicBezTo>
                  <a:pt x="51173" y="1047750"/>
                  <a:pt x="0" y="996577"/>
                  <a:pt x="0" y="93345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8A9B8D"/>
          </a:solidFill>
          <a:ln/>
        </p:spPr>
      </p:sp>
      <p:sp>
        <p:nvSpPr>
          <p:cNvPr id="30" name="Shape 27"/>
          <p:cNvSpPr/>
          <p:nvPr/>
        </p:nvSpPr>
        <p:spPr>
          <a:xfrm>
            <a:off x="10820400" y="55816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523" y="0"/>
                </a:moveTo>
                <a:cubicBezTo>
                  <a:pt x="121087" y="0"/>
                  <a:pt x="127114" y="3617"/>
                  <a:pt x="130239" y="9376"/>
                </a:cubicBezTo>
                <a:lnTo>
                  <a:pt x="226680" y="187970"/>
                </a:lnTo>
                <a:cubicBezTo>
                  <a:pt x="229672" y="193506"/>
                  <a:pt x="229538" y="200204"/>
                  <a:pt x="226323" y="205606"/>
                </a:cubicBezTo>
                <a:cubicBezTo>
                  <a:pt x="223108" y="211009"/>
                  <a:pt x="217259" y="214313"/>
                  <a:pt x="211009" y="214313"/>
                </a:cubicBezTo>
                <a:lnTo>
                  <a:pt x="18127" y="214313"/>
                </a:lnTo>
                <a:cubicBezTo>
                  <a:pt x="11832" y="214313"/>
                  <a:pt x="6028" y="211009"/>
                  <a:pt x="2813" y="205606"/>
                </a:cubicBezTo>
                <a:cubicBezTo>
                  <a:pt x="-402" y="200204"/>
                  <a:pt x="-536" y="193506"/>
                  <a:pt x="2456" y="187970"/>
                </a:cubicBezTo>
                <a:lnTo>
                  <a:pt x="98896" y="9376"/>
                </a:lnTo>
                <a:lnTo>
                  <a:pt x="100191" y="7322"/>
                </a:lnTo>
                <a:cubicBezTo>
                  <a:pt x="103450" y="2768"/>
                  <a:pt x="108764" y="0"/>
                  <a:pt x="114523" y="0"/>
                </a:cubicBezTo>
                <a:close/>
                <a:moveTo>
                  <a:pt x="76081" y="111576"/>
                </a:moveTo>
                <a:lnTo>
                  <a:pt x="88047" y="123542"/>
                </a:lnTo>
                <a:cubicBezTo>
                  <a:pt x="90815" y="126310"/>
                  <a:pt x="95369" y="126310"/>
                  <a:pt x="98137" y="123542"/>
                </a:cubicBezTo>
                <a:lnTo>
                  <a:pt x="117470" y="104209"/>
                </a:lnTo>
                <a:cubicBezTo>
                  <a:pt x="120149" y="101531"/>
                  <a:pt x="123765" y="100012"/>
                  <a:pt x="127561" y="100012"/>
                </a:cubicBezTo>
                <a:lnTo>
                  <a:pt x="146670" y="100012"/>
                </a:lnTo>
                <a:lnTo>
                  <a:pt x="114479" y="40407"/>
                </a:lnTo>
                <a:lnTo>
                  <a:pt x="76036" y="111576"/>
                </a:lnTo>
                <a:close/>
              </a:path>
            </a:pathLst>
          </a:custGeom>
          <a:solidFill>
            <a:srgbClr val="F8F7F4"/>
          </a:solidFill>
          <a:ln/>
        </p:spPr>
      </p:sp>
      <p:sp>
        <p:nvSpPr>
          <p:cNvPr id="31" name="Text 28"/>
          <p:cNvSpPr/>
          <p:nvPr/>
        </p:nvSpPr>
        <p:spPr>
          <a:xfrm>
            <a:off x="10153650" y="5886450"/>
            <a:ext cx="15621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8F7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47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10182225" y="6181725"/>
            <a:ext cx="15049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8F7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свлачища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A4F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chool-education.ec.europa.eu/6ae14283bcc91a5416146057507ec09fc0596ce4.jpg"/>
          <p:cNvPicPr>
            <a:picLocks noChangeAspect="1"/>
          </p:cNvPicPr>
          <p:nvPr/>
        </p:nvPicPr>
        <p:blipFill>
          <a:blip r:embed="rId3">
            <a:alphaModFix amt="90000"/>
          </a:blip>
          <a:srcRect l="9857" r="9857"/>
          <a:stretch/>
        </p:blipFill>
        <p:spPr>
          <a:xfrm>
            <a:off x="381000" y="381000"/>
            <a:ext cx="5562600" cy="4933950"/>
          </a:xfrm>
          <a:prstGeom prst="roundRect">
            <a:avLst>
              <a:gd name="adj" fmla="val 3089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381000" y="381000"/>
            <a:ext cx="5562600" cy="4933950"/>
          </a:xfrm>
          <a:custGeom>
            <a:avLst/>
            <a:gdLst/>
            <a:ahLst/>
            <a:cxnLst/>
            <a:rect l="l" t="t" r="r" b="b"/>
            <a:pathLst>
              <a:path w="5562600" h="4933950">
                <a:moveTo>
                  <a:pt x="0" y="0"/>
                </a:moveTo>
                <a:lnTo>
                  <a:pt x="5562600" y="0"/>
                </a:lnTo>
                <a:lnTo>
                  <a:pt x="5562600" y="4933950"/>
                </a:lnTo>
                <a:lnTo>
                  <a:pt x="0" y="49339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A4F41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5510213"/>
            <a:ext cx="1743075" cy="962025"/>
          </a:xfrm>
          <a:custGeom>
            <a:avLst/>
            <a:gdLst/>
            <a:ahLst/>
            <a:cxnLst/>
            <a:rect l="l" t="t" r="r" b="b"/>
            <a:pathLst>
              <a:path w="1743075" h="962025">
                <a:moveTo>
                  <a:pt x="114298" y="0"/>
                </a:moveTo>
                <a:lnTo>
                  <a:pt x="1628777" y="0"/>
                </a:lnTo>
                <a:cubicBezTo>
                  <a:pt x="1691902" y="0"/>
                  <a:pt x="1743075" y="51173"/>
                  <a:pt x="1743075" y="114298"/>
                </a:cubicBezTo>
                <a:lnTo>
                  <a:pt x="1743075" y="847727"/>
                </a:lnTo>
                <a:cubicBezTo>
                  <a:pt x="1743075" y="910852"/>
                  <a:pt x="1691902" y="962025"/>
                  <a:pt x="1628777" y="962025"/>
                </a:cubicBezTo>
                <a:lnTo>
                  <a:pt x="114298" y="962025"/>
                </a:lnTo>
                <a:cubicBezTo>
                  <a:pt x="51173" y="962025"/>
                  <a:pt x="0" y="910852"/>
                  <a:pt x="0" y="8477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C97B61">
              <a:alpha val="20000"/>
            </a:srgbClr>
          </a:solidFill>
          <a:ln w="12700">
            <a:solidFill>
              <a:srgbClr val="C97B61">
                <a:alpha val="4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66800" y="56673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8A9B8D"/>
          </a:solidFill>
          <a:ln/>
        </p:spPr>
      </p:sp>
      <p:sp>
        <p:nvSpPr>
          <p:cNvPr id="6" name="Text 3"/>
          <p:cNvSpPr/>
          <p:nvPr/>
        </p:nvSpPr>
        <p:spPr>
          <a:xfrm>
            <a:off x="1184672" y="5762625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8F7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9587" y="6124575"/>
            <a:ext cx="1495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8F7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Ниска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290763" y="5510213"/>
            <a:ext cx="1743075" cy="962025"/>
          </a:xfrm>
          <a:custGeom>
            <a:avLst/>
            <a:gdLst/>
            <a:ahLst/>
            <a:cxnLst/>
            <a:rect l="l" t="t" r="r" b="b"/>
            <a:pathLst>
              <a:path w="1743075" h="962025">
                <a:moveTo>
                  <a:pt x="114298" y="0"/>
                </a:moveTo>
                <a:lnTo>
                  <a:pt x="1628777" y="0"/>
                </a:lnTo>
                <a:cubicBezTo>
                  <a:pt x="1691902" y="0"/>
                  <a:pt x="1743075" y="51173"/>
                  <a:pt x="1743075" y="114298"/>
                </a:cubicBezTo>
                <a:lnTo>
                  <a:pt x="1743075" y="847727"/>
                </a:lnTo>
                <a:cubicBezTo>
                  <a:pt x="1743075" y="910852"/>
                  <a:pt x="1691902" y="962025"/>
                  <a:pt x="1628777" y="962025"/>
                </a:cubicBezTo>
                <a:lnTo>
                  <a:pt x="114298" y="962025"/>
                </a:lnTo>
                <a:cubicBezTo>
                  <a:pt x="51173" y="962025"/>
                  <a:pt x="0" y="910852"/>
                  <a:pt x="0" y="8477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C97B61">
              <a:alpha val="30196"/>
            </a:srgbClr>
          </a:solidFill>
          <a:ln w="12700">
            <a:solidFill>
              <a:srgbClr val="C97B61">
                <a:alpha val="6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971800" y="56673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97B61"/>
          </a:solidFill>
          <a:ln/>
        </p:spPr>
      </p:sp>
      <p:sp>
        <p:nvSpPr>
          <p:cNvPr id="10" name="Text 7"/>
          <p:cNvSpPr/>
          <p:nvPr/>
        </p:nvSpPr>
        <p:spPr>
          <a:xfrm>
            <a:off x="3068836" y="5762625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8F7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414588" y="6124575"/>
            <a:ext cx="1495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8F7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Средна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195763" y="5510213"/>
            <a:ext cx="1743075" cy="962025"/>
          </a:xfrm>
          <a:custGeom>
            <a:avLst/>
            <a:gdLst/>
            <a:ahLst/>
            <a:cxnLst/>
            <a:rect l="l" t="t" r="r" b="b"/>
            <a:pathLst>
              <a:path w="1743075" h="962025">
                <a:moveTo>
                  <a:pt x="114298" y="0"/>
                </a:moveTo>
                <a:lnTo>
                  <a:pt x="1628777" y="0"/>
                </a:lnTo>
                <a:cubicBezTo>
                  <a:pt x="1691902" y="0"/>
                  <a:pt x="1743075" y="51173"/>
                  <a:pt x="1743075" y="114298"/>
                </a:cubicBezTo>
                <a:lnTo>
                  <a:pt x="1743075" y="847727"/>
                </a:lnTo>
                <a:cubicBezTo>
                  <a:pt x="1743075" y="910852"/>
                  <a:pt x="1691902" y="962025"/>
                  <a:pt x="1628777" y="962025"/>
                </a:cubicBezTo>
                <a:lnTo>
                  <a:pt x="114298" y="962025"/>
                </a:lnTo>
                <a:cubicBezTo>
                  <a:pt x="51173" y="962025"/>
                  <a:pt x="0" y="910852"/>
                  <a:pt x="0" y="8477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C97B61">
              <a:alpha val="50196"/>
            </a:srgbClr>
          </a:solidFill>
          <a:ln w="12700">
            <a:solidFill>
              <a:srgbClr val="C97B61">
                <a:alpha val="8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76800" y="56673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14" name="Text 11"/>
          <p:cNvSpPr/>
          <p:nvPr/>
        </p:nvSpPr>
        <p:spPr>
          <a:xfrm>
            <a:off x="4984552" y="5762625"/>
            <a:ext cx="161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8F7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319588" y="6124575"/>
            <a:ext cx="1495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8F7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Критична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248400" y="1038225"/>
            <a:ext cx="1381125" cy="304800"/>
          </a:xfrm>
          <a:custGeom>
            <a:avLst/>
            <a:gdLst/>
            <a:ahLst/>
            <a:cxnLst/>
            <a:rect l="l" t="t" r="r" b="b"/>
            <a:pathLst>
              <a:path w="1381125" h="304800">
                <a:moveTo>
                  <a:pt x="152400" y="0"/>
                </a:moveTo>
                <a:lnTo>
                  <a:pt x="1228725" y="0"/>
                </a:lnTo>
                <a:cubicBezTo>
                  <a:pt x="1312837" y="0"/>
                  <a:pt x="1381125" y="68288"/>
                  <a:pt x="1381125" y="152400"/>
                </a:cubicBezTo>
                <a:lnTo>
                  <a:pt x="1381125" y="152400"/>
                </a:lnTo>
                <a:cubicBezTo>
                  <a:pt x="1381125" y="236512"/>
                  <a:pt x="1312837" y="304800"/>
                  <a:pt x="1228725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C97B61"/>
          </a:solidFill>
          <a:ln/>
        </p:spPr>
      </p:sp>
      <p:sp>
        <p:nvSpPr>
          <p:cNvPr id="17" name="Text 14"/>
          <p:cNvSpPr/>
          <p:nvPr/>
        </p:nvSpPr>
        <p:spPr>
          <a:xfrm>
            <a:off x="6486525" y="1038225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F8F7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Компонент 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248400" y="1495425"/>
            <a:ext cx="5791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8F7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Система за ранно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8F7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предупреждение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248400" y="2752725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97B61"/>
          </a:solidFill>
          <a:ln/>
        </p:spPr>
      </p:sp>
      <p:sp>
        <p:nvSpPr>
          <p:cNvPr id="20" name="Shape 17"/>
          <p:cNvSpPr/>
          <p:nvPr/>
        </p:nvSpPr>
        <p:spPr>
          <a:xfrm>
            <a:off x="6248400" y="30956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97B61">
              <a:alpha val="30196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6381750" y="32289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320" y="0"/>
                </a:moveTo>
                <a:cubicBezTo>
                  <a:pt x="143842" y="0"/>
                  <a:pt x="190500" y="46658"/>
                  <a:pt x="190500" y="104180"/>
                </a:cubicBezTo>
                <a:cubicBezTo>
                  <a:pt x="190500" y="109128"/>
                  <a:pt x="186519" y="113109"/>
                  <a:pt x="181570" y="113109"/>
                </a:cubicBezTo>
                <a:cubicBezTo>
                  <a:pt x="176622" y="113109"/>
                  <a:pt x="172641" y="109128"/>
                  <a:pt x="172641" y="104180"/>
                </a:cubicBezTo>
                <a:cubicBezTo>
                  <a:pt x="172641" y="56517"/>
                  <a:pt x="133983" y="17859"/>
                  <a:pt x="86320" y="17859"/>
                </a:cubicBezTo>
                <a:cubicBezTo>
                  <a:pt x="81372" y="17859"/>
                  <a:pt x="77391" y="13878"/>
                  <a:pt x="77391" y="8930"/>
                </a:cubicBezTo>
                <a:cubicBezTo>
                  <a:pt x="77391" y="3981"/>
                  <a:pt x="81372" y="0"/>
                  <a:pt x="86320" y="0"/>
                </a:cubicBezTo>
                <a:close/>
                <a:moveTo>
                  <a:pt x="77391" y="44648"/>
                </a:moveTo>
                <a:cubicBezTo>
                  <a:pt x="77391" y="39700"/>
                  <a:pt x="81372" y="35719"/>
                  <a:pt x="86320" y="35719"/>
                </a:cubicBezTo>
                <a:cubicBezTo>
                  <a:pt x="124123" y="35719"/>
                  <a:pt x="154781" y="66377"/>
                  <a:pt x="154781" y="104180"/>
                </a:cubicBezTo>
                <a:cubicBezTo>
                  <a:pt x="154781" y="109128"/>
                  <a:pt x="150800" y="113109"/>
                  <a:pt x="145852" y="113109"/>
                </a:cubicBezTo>
                <a:cubicBezTo>
                  <a:pt x="140903" y="113109"/>
                  <a:pt x="136922" y="109128"/>
                  <a:pt x="136922" y="104180"/>
                </a:cubicBezTo>
                <a:cubicBezTo>
                  <a:pt x="136922" y="76237"/>
                  <a:pt x="114263" y="53578"/>
                  <a:pt x="86320" y="53578"/>
                </a:cubicBezTo>
                <a:cubicBezTo>
                  <a:pt x="81372" y="53578"/>
                  <a:pt x="77391" y="49597"/>
                  <a:pt x="77391" y="44648"/>
                </a:cubicBezTo>
                <a:close/>
                <a:moveTo>
                  <a:pt x="9823" y="53094"/>
                </a:moveTo>
                <a:cubicBezTo>
                  <a:pt x="13097" y="46434"/>
                  <a:pt x="21878" y="45690"/>
                  <a:pt x="27124" y="50936"/>
                </a:cubicBezTo>
                <a:lnTo>
                  <a:pt x="74935" y="98747"/>
                </a:lnTo>
                <a:lnTo>
                  <a:pt x="86841" y="86841"/>
                </a:lnTo>
                <a:cubicBezTo>
                  <a:pt x="91492" y="82190"/>
                  <a:pt x="99045" y="82190"/>
                  <a:pt x="103696" y="86841"/>
                </a:cubicBezTo>
                <a:cubicBezTo>
                  <a:pt x="108347" y="91492"/>
                  <a:pt x="108347" y="99045"/>
                  <a:pt x="103696" y="103696"/>
                </a:cubicBezTo>
                <a:lnTo>
                  <a:pt x="91790" y="115602"/>
                </a:lnTo>
                <a:lnTo>
                  <a:pt x="139601" y="163413"/>
                </a:lnTo>
                <a:cubicBezTo>
                  <a:pt x="144847" y="168659"/>
                  <a:pt x="144066" y="177403"/>
                  <a:pt x="137443" y="180715"/>
                </a:cubicBezTo>
                <a:cubicBezTo>
                  <a:pt x="124718" y="187003"/>
                  <a:pt x="110430" y="190537"/>
                  <a:pt x="95287" y="190537"/>
                </a:cubicBezTo>
                <a:cubicBezTo>
                  <a:pt x="42676" y="190537"/>
                  <a:pt x="37" y="147898"/>
                  <a:pt x="37" y="95287"/>
                </a:cubicBezTo>
                <a:cubicBezTo>
                  <a:pt x="37" y="80144"/>
                  <a:pt x="3572" y="65819"/>
                  <a:pt x="9860" y="53132"/>
                </a:cubicBezTo>
                <a:close/>
              </a:path>
            </a:pathLst>
          </a:custGeom>
          <a:solidFill>
            <a:srgbClr val="C97B61"/>
          </a:solidFill>
          <a:ln/>
        </p:spPr>
      </p:sp>
      <p:sp>
        <p:nvSpPr>
          <p:cNvPr id="22" name="Text 19"/>
          <p:cNvSpPr/>
          <p:nvPr/>
        </p:nvSpPr>
        <p:spPr>
          <a:xfrm>
            <a:off x="6858000" y="3095625"/>
            <a:ext cx="504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7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Интеграция в реално време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858000" y="3438525"/>
            <a:ext cx="5029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7F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Свързване с метеорологични и сеизмични данни за моментални сигнали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248400" y="41624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97B61">
              <a:alpha val="30196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6381750" y="42957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C97B61"/>
          </a:solidFill>
          <a:ln/>
        </p:spPr>
      </p:sp>
      <p:sp>
        <p:nvSpPr>
          <p:cNvPr id="26" name="Text 23"/>
          <p:cNvSpPr/>
          <p:nvPr/>
        </p:nvSpPr>
        <p:spPr>
          <a:xfrm>
            <a:off x="6858000" y="4162425"/>
            <a:ext cx="504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7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Класификация по сериозност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858000" y="4505325"/>
            <a:ext cx="5029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7F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Ниска, Средна, Критична - ясна система за приоритизиране на заплахите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248400" y="52292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97B61">
              <a:alpha val="30196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6381750" y="53625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C97B61"/>
          </a:solidFill>
          <a:ln/>
        </p:spPr>
      </p:sp>
      <p:sp>
        <p:nvSpPr>
          <p:cNvPr id="30" name="Text 27"/>
          <p:cNvSpPr/>
          <p:nvPr/>
        </p:nvSpPr>
        <p:spPr>
          <a:xfrm>
            <a:off x="6858000" y="5229225"/>
            <a:ext cx="4733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7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Навременна информация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858000" y="5572125"/>
            <a:ext cx="47148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7F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Жителите получават ясни и бързи съобщения за всяка заплаха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1381125" cy="304800"/>
          </a:xfrm>
          <a:custGeom>
            <a:avLst/>
            <a:gdLst/>
            <a:ahLst/>
            <a:cxnLst/>
            <a:rect l="l" t="t" r="r" b="b"/>
            <a:pathLst>
              <a:path w="1381125" h="304800">
                <a:moveTo>
                  <a:pt x="152400" y="0"/>
                </a:moveTo>
                <a:lnTo>
                  <a:pt x="1228725" y="0"/>
                </a:lnTo>
                <a:cubicBezTo>
                  <a:pt x="1312837" y="0"/>
                  <a:pt x="1381125" y="68288"/>
                  <a:pt x="1381125" y="152400"/>
                </a:cubicBezTo>
                <a:lnTo>
                  <a:pt x="1381125" y="152400"/>
                </a:lnTo>
                <a:cubicBezTo>
                  <a:pt x="1381125" y="236512"/>
                  <a:pt x="1312837" y="304800"/>
                  <a:pt x="1228725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C97B61"/>
          </a:solidFill>
          <a:ln/>
        </p:spPr>
      </p:sp>
      <p:sp>
        <p:nvSpPr>
          <p:cNvPr id="3" name="Text 1"/>
          <p:cNvSpPr/>
          <p:nvPr/>
        </p:nvSpPr>
        <p:spPr>
          <a:xfrm>
            <a:off x="619125" y="381000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F8F7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Компонент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00100"/>
            <a:ext cx="11658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3A4F4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Бърза медицинска логистика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4478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97B6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 криза всяка секунда е от значение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943100"/>
            <a:ext cx="3657600" cy="2933700"/>
          </a:xfrm>
          <a:custGeom>
            <a:avLst/>
            <a:gdLst/>
            <a:ahLst/>
            <a:cxnLst/>
            <a:rect l="l" t="t" r="r" b="b"/>
            <a:pathLst>
              <a:path w="3657600" h="2933700">
                <a:moveTo>
                  <a:pt x="152406" y="0"/>
                </a:moveTo>
                <a:lnTo>
                  <a:pt x="3505194" y="0"/>
                </a:lnTo>
                <a:cubicBezTo>
                  <a:pt x="3589309" y="0"/>
                  <a:pt x="3657600" y="68291"/>
                  <a:pt x="3657600" y="152406"/>
                </a:cubicBezTo>
                <a:lnTo>
                  <a:pt x="3657600" y="2781294"/>
                </a:lnTo>
                <a:cubicBezTo>
                  <a:pt x="3657600" y="2865409"/>
                  <a:pt x="3589309" y="2933700"/>
                  <a:pt x="3505194" y="2933700"/>
                </a:cubicBezTo>
                <a:lnTo>
                  <a:pt x="152406" y="2933700"/>
                </a:lnTo>
                <a:cubicBezTo>
                  <a:pt x="68291" y="2933700"/>
                  <a:pt x="0" y="2865409"/>
                  <a:pt x="0" y="2781294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9600" y="21717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8" name="Shape 6"/>
          <p:cNvSpPr/>
          <p:nvPr/>
        </p:nvSpPr>
        <p:spPr>
          <a:xfrm>
            <a:off x="756047" y="233362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71438" y="35719"/>
                </a:moveTo>
                <a:cubicBezTo>
                  <a:pt x="71438" y="16018"/>
                  <a:pt x="87455" y="0"/>
                  <a:pt x="107156" y="0"/>
                </a:cubicBezTo>
                <a:lnTo>
                  <a:pt x="214313" y="0"/>
                </a:lnTo>
                <a:cubicBezTo>
                  <a:pt x="234014" y="0"/>
                  <a:pt x="250031" y="16018"/>
                  <a:pt x="250031" y="35719"/>
                </a:cubicBezTo>
                <a:lnTo>
                  <a:pt x="250031" y="71438"/>
                </a:lnTo>
                <a:lnTo>
                  <a:pt x="285750" y="71438"/>
                </a:lnTo>
                <a:cubicBezTo>
                  <a:pt x="305451" y="71438"/>
                  <a:pt x="321469" y="87455"/>
                  <a:pt x="321469" y="107156"/>
                </a:cubicBezTo>
                <a:lnTo>
                  <a:pt x="321469" y="250031"/>
                </a:lnTo>
                <a:cubicBezTo>
                  <a:pt x="321469" y="269732"/>
                  <a:pt x="305451" y="285750"/>
                  <a:pt x="285750" y="285750"/>
                </a:cubicBezTo>
                <a:lnTo>
                  <a:pt x="35719" y="285750"/>
                </a:lnTo>
                <a:cubicBezTo>
                  <a:pt x="16018" y="285750"/>
                  <a:pt x="0" y="269732"/>
                  <a:pt x="0" y="250031"/>
                </a:cubicBezTo>
                <a:lnTo>
                  <a:pt x="0" y="107156"/>
                </a:lnTo>
                <a:cubicBezTo>
                  <a:pt x="0" y="87455"/>
                  <a:pt x="16018" y="71438"/>
                  <a:pt x="35719" y="71438"/>
                </a:cubicBezTo>
                <a:lnTo>
                  <a:pt x="71438" y="71438"/>
                </a:lnTo>
                <a:lnTo>
                  <a:pt x="71438" y="35719"/>
                </a:lnTo>
                <a:close/>
                <a:moveTo>
                  <a:pt x="151805" y="196453"/>
                </a:moveTo>
                <a:cubicBezTo>
                  <a:pt x="141926" y="196453"/>
                  <a:pt x="133945" y="204434"/>
                  <a:pt x="133945" y="214313"/>
                </a:cubicBezTo>
                <a:lnTo>
                  <a:pt x="133945" y="258961"/>
                </a:lnTo>
                <a:lnTo>
                  <a:pt x="187523" y="258961"/>
                </a:lnTo>
                <a:lnTo>
                  <a:pt x="187523" y="214313"/>
                </a:lnTo>
                <a:cubicBezTo>
                  <a:pt x="187523" y="204434"/>
                  <a:pt x="179543" y="196453"/>
                  <a:pt x="169664" y="196453"/>
                </a:cubicBezTo>
                <a:lnTo>
                  <a:pt x="151805" y="196453"/>
                </a:lnTo>
                <a:close/>
                <a:moveTo>
                  <a:pt x="71438" y="205383"/>
                </a:moveTo>
                <a:lnTo>
                  <a:pt x="71438" y="187523"/>
                </a:lnTo>
                <a:cubicBezTo>
                  <a:pt x="71438" y="182612"/>
                  <a:pt x="67419" y="178594"/>
                  <a:pt x="62508" y="178594"/>
                </a:cubicBezTo>
                <a:lnTo>
                  <a:pt x="44648" y="178594"/>
                </a:lnTo>
                <a:cubicBezTo>
                  <a:pt x="39737" y="178594"/>
                  <a:pt x="35719" y="182612"/>
                  <a:pt x="35719" y="187523"/>
                </a:cubicBezTo>
                <a:lnTo>
                  <a:pt x="35719" y="205383"/>
                </a:lnTo>
                <a:cubicBezTo>
                  <a:pt x="35719" y="210294"/>
                  <a:pt x="39737" y="214313"/>
                  <a:pt x="44648" y="214313"/>
                </a:cubicBezTo>
                <a:lnTo>
                  <a:pt x="62508" y="214313"/>
                </a:lnTo>
                <a:cubicBezTo>
                  <a:pt x="67419" y="214313"/>
                  <a:pt x="71438" y="210294"/>
                  <a:pt x="71438" y="205383"/>
                </a:cubicBezTo>
                <a:close/>
                <a:moveTo>
                  <a:pt x="62508" y="142875"/>
                </a:moveTo>
                <a:cubicBezTo>
                  <a:pt x="67419" y="142875"/>
                  <a:pt x="71438" y="138857"/>
                  <a:pt x="71438" y="133945"/>
                </a:cubicBezTo>
                <a:lnTo>
                  <a:pt x="71438" y="116086"/>
                </a:lnTo>
                <a:cubicBezTo>
                  <a:pt x="71438" y="111175"/>
                  <a:pt x="67419" y="107156"/>
                  <a:pt x="62508" y="107156"/>
                </a:cubicBezTo>
                <a:lnTo>
                  <a:pt x="44648" y="107156"/>
                </a:lnTo>
                <a:cubicBezTo>
                  <a:pt x="39737" y="107156"/>
                  <a:pt x="35719" y="111175"/>
                  <a:pt x="35719" y="116086"/>
                </a:cubicBezTo>
                <a:lnTo>
                  <a:pt x="35719" y="133945"/>
                </a:lnTo>
                <a:cubicBezTo>
                  <a:pt x="35719" y="138857"/>
                  <a:pt x="39737" y="142875"/>
                  <a:pt x="44648" y="142875"/>
                </a:cubicBezTo>
                <a:lnTo>
                  <a:pt x="62508" y="142875"/>
                </a:lnTo>
                <a:close/>
                <a:moveTo>
                  <a:pt x="285750" y="205383"/>
                </a:moveTo>
                <a:lnTo>
                  <a:pt x="285750" y="187523"/>
                </a:lnTo>
                <a:cubicBezTo>
                  <a:pt x="285750" y="182612"/>
                  <a:pt x="281732" y="178594"/>
                  <a:pt x="276820" y="178594"/>
                </a:cubicBezTo>
                <a:lnTo>
                  <a:pt x="258961" y="178594"/>
                </a:lnTo>
                <a:cubicBezTo>
                  <a:pt x="254050" y="178594"/>
                  <a:pt x="250031" y="182612"/>
                  <a:pt x="250031" y="187523"/>
                </a:cubicBezTo>
                <a:lnTo>
                  <a:pt x="250031" y="205383"/>
                </a:lnTo>
                <a:cubicBezTo>
                  <a:pt x="250031" y="210294"/>
                  <a:pt x="254050" y="214313"/>
                  <a:pt x="258961" y="214313"/>
                </a:cubicBezTo>
                <a:lnTo>
                  <a:pt x="276820" y="214313"/>
                </a:lnTo>
                <a:cubicBezTo>
                  <a:pt x="281732" y="214313"/>
                  <a:pt x="285750" y="210294"/>
                  <a:pt x="285750" y="205383"/>
                </a:cubicBezTo>
                <a:close/>
                <a:moveTo>
                  <a:pt x="276820" y="142875"/>
                </a:moveTo>
                <a:cubicBezTo>
                  <a:pt x="281732" y="142875"/>
                  <a:pt x="285750" y="138857"/>
                  <a:pt x="285750" y="133945"/>
                </a:cubicBezTo>
                <a:lnTo>
                  <a:pt x="285750" y="116086"/>
                </a:lnTo>
                <a:cubicBezTo>
                  <a:pt x="285750" y="111175"/>
                  <a:pt x="281732" y="107156"/>
                  <a:pt x="276820" y="107156"/>
                </a:cubicBezTo>
                <a:lnTo>
                  <a:pt x="258961" y="107156"/>
                </a:lnTo>
                <a:cubicBezTo>
                  <a:pt x="254050" y="107156"/>
                  <a:pt x="250031" y="111175"/>
                  <a:pt x="250031" y="116086"/>
                </a:cubicBezTo>
                <a:lnTo>
                  <a:pt x="250031" y="133945"/>
                </a:lnTo>
                <a:cubicBezTo>
                  <a:pt x="250031" y="138857"/>
                  <a:pt x="254050" y="142875"/>
                  <a:pt x="258961" y="142875"/>
                </a:cubicBezTo>
                <a:lnTo>
                  <a:pt x="276820" y="142875"/>
                </a:lnTo>
                <a:close/>
                <a:moveTo>
                  <a:pt x="147340" y="58043"/>
                </a:moveTo>
                <a:lnTo>
                  <a:pt x="147340" y="75902"/>
                </a:lnTo>
                <a:lnTo>
                  <a:pt x="129480" y="75902"/>
                </a:lnTo>
                <a:cubicBezTo>
                  <a:pt x="124569" y="75902"/>
                  <a:pt x="120551" y="79921"/>
                  <a:pt x="120551" y="84832"/>
                </a:cubicBezTo>
                <a:lnTo>
                  <a:pt x="120551" y="93762"/>
                </a:lnTo>
                <a:cubicBezTo>
                  <a:pt x="120551" y="98673"/>
                  <a:pt x="124569" y="102691"/>
                  <a:pt x="129480" y="102691"/>
                </a:cubicBezTo>
                <a:lnTo>
                  <a:pt x="147340" y="102691"/>
                </a:lnTo>
                <a:lnTo>
                  <a:pt x="147340" y="120551"/>
                </a:lnTo>
                <a:cubicBezTo>
                  <a:pt x="147340" y="125462"/>
                  <a:pt x="151358" y="129480"/>
                  <a:pt x="156270" y="129480"/>
                </a:cubicBezTo>
                <a:lnTo>
                  <a:pt x="165199" y="129480"/>
                </a:lnTo>
                <a:cubicBezTo>
                  <a:pt x="170111" y="129480"/>
                  <a:pt x="174129" y="125462"/>
                  <a:pt x="174129" y="120551"/>
                </a:cubicBezTo>
                <a:lnTo>
                  <a:pt x="174129" y="102691"/>
                </a:lnTo>
                <a:lnTo>
                  <a:pt x="191988" y="102691"/>
                </a:lnTo>
                <a:cubicBezTo>
                  <a:pt x="196900" y="102691"/>
                  <a:pt x="200918" y="98673"/>
                  <a:pt x="200918" y="93762"/>
                </a:cubicBezTo>
                <a:lnTo>
                  <a:pt x="200918" y="84832"/>
                </a:lnTo>
                <a:cubicBezTo>
                  <a:pt x="200918" y="79921"/>
                  <a:pt x="196900" y="75902"/>
                  <a:pt x="191988" y="75902"/>
                </a:cubicBezTo>
                <a:lnTo>
                  <a:pt x="174129" y="75902"/>
                </a:lnTo>
                <a:lnTo>
                  <a:pt x="174129" y="58043"/>
                </a:lnTo>
                <a:cubicBezTo>
                  <a:pt x="174129" y="53132"/>
                  <a:pt x="170111" y="49113"/>
                  <a:pt x="165199" y="49113"/>
                </a:cubicBezTo>
                <a:lnTo>
                  <a:pt x="156270" y="49113"/>
                </a:lnTo>
                <a:cubicBezTo>
                  <a:pt x="151358" y="49113"/>
                  <a:pt x="147340" y="53132"/>
                  <a:pt x="147340" y="58043"/>
                </a:cubicBezTo>
                <a:close/>
              </a:path>
            </a:pathLst>
          </a:custGeom>
          <a:solidFill>
            <a:srgbClr val="F8F7F4"/>
          </a:solidFill>
          <a:ln/>
        </p:spPr>
      </p:sp>
      <p:sp>
        <p:nvSpPr>
          <p:cNvPr id="9" name="Text 7"/>
          <p:cNvSpPr/>
          <p:nvPr/>
        </p:nvSpPr>
        <p:spPr>
          <a:xfrm>
            <a:off x="609600" y="2971800"/>
            <a:ext cx="33147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4F4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Най-близки болници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600" y="3381375"/>
            <a:ext cx="3276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2D2D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Моментално идентифициране на здравните заведения в близост до засегнатата зона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9600" y="4300538"/>
            <a:ext cx="3200400" cy="9525"/>
          </a:xfrm>
          <a:custGeom>
            <a:avLst/>
            <a:gdLst/>
            <a:ahLst/>
            <a:cxnLst/>
            <a:rect l="l" t="t" r="r" b="b"/>
            <a:pathLst>
              <a:path w="3200400" h="9525">
                <a:moveTo>
                  <a:pt x="0" y="0"/>
                </a:moveTo>
                <a:lnTo>
                  <a:pt x="3200400" y="0"/>
                </a:lnTo>
                <a:lnTo>
                  <a:pt x="32004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A4F41">
              <a:alpha val="1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28650" y="44958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C97B61"/>
          </a:solidFill>
          <a:ln/>
        </p:spPr>
      </p:sp>
      <p:sp>
        <p:nvSpPr>
          <p:cNvPr id="13" name="Text 11"/>
          <p:cNvSpPr/>
          <p:nvPr/>
        </p:nvSpPr>
        <p:spPr>
          <a:xfrm>
            <a:off x="838200" y="4457700"/>
            <a:ext cx="3038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2D2D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Директна контактна информация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67200" y="1943100"/>
            <a:ext cx="3657600" cy="2933700"/>
          </a:xfrm>
          <a:custGeom>
            <a:avLst/>
            <a:gdLst/>
            <a:ahLst/>
            <a:cxnLst/>
            <a:rect l="l" t="t" r="r" b="b"/>
            <a:pathLst>
              <a:path w="3657600" h="2933700">
                <a:moveTo>
                  <a:pt x="152406" y="0"/>
                </a:moveTo>
                <a:lnTo>
                  <a:pt x="3505194" y="0"/>
                </a:lnTo>
                <a:cubicBezTo>
                  <a:pt x="3589309" y="0"/>
                  <a:pt x="3657600" y="68291"/>
                  <a:pt x="3657600" y="152406"/>
                </a:cubicBezTo>
                <a:lnTo>
                  <a:pt x="3657600" y="2781294"/>
                </a:lnTo>
                <a:cubicBezTo>
                  <a:pt x="3657600" y="2865409"/>
                  <a:pt x="3589309" y="2933700"/>
                  <a:pt x="3505194" y="2933700"/>
                </a:cubicBezTo>
                <a:lnTo>
                  <a:pt x="152406" y="2933700"/>
                </a:lnTo>
                <a:cubicBezTo>
                  <a:pt x="68291" y="2933700"/>
                  <a:pt x="0" y="2865409"/>
                  <a:pt x="0" y="2781294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95800" y="21717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C97B61"/>
          </a:solidFill>
          <a:ln/>
        </p:spPr>
      </p:sp>
      <p:sp>
        <p:nvSpPr>
          <p:cNvPr id="16" name="Shape 14"/>
          <p:cNvSpPr/>
          <p:nvPr/>
        </p:nvSpPr>
        <p:spPr>
          <a:xfrm>
            <a:off x="4660106" y="23336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62508"/>
                </a:moveTo>
                <a:cubicBezTo>
                  <a:pt x="35719" y="47718"/>
                  <a:pt x="47718" y="35719"/>
                  <a:pt x="62508" y="35719"/>
                </a:cubicBezTo>
                <a:cubicBezTo>
                  <a:pt x="77298" y="35719"/>
                  <a:pt x="89297" y="47718"/>
                  <a:pt x="89297" y="62508"/>
                </a:cubicBezTo>
                <a:lnTo>
                  <a:pt x="89297" y="125016"/>
                </a:lnTo>
                <a:lnTo>
                  <a:pt x="35719" y="125016"/>
                </a:lnTo>
                <a:lnTo>
                  <a:pt x="35719" y="62508"/>
                </a:lnTo>
                <a:close/>
                <a:moveTo>
                  <a:pt x="98227" y="205383"/>
                </a:moveTo>
                <a:cubicBezTo>
                  <a:pt x="98227" y="178203"/>
                  <a:pt x="108328" y="153367"/>
                  <a:pt x="125016" y="134503"/>
                </a:cubicBezTo>
                <a:lnTo>
                  <a:pt x="125016" y="62508"/>
                </a:lnTo>
                <a:cubicBezTo>
                  <a:pt x="125016" y="27961"/>
                  <a:pt x="97055" y="0"/>
                  <a:pt x="62508" y="0"/>
                </a:cubicBezTo>
                <a:cubicBezTo>
                  <a:pt x="27961" y="0"/>
                  <a:pt x="0" y="27961"/>
                  <a:pt x="0" y="62508"/>
                </a:cubicBezTo>
                <a:lnTo>
                  <a:pt x="0" y="223242"/>
                </a:lnTo>
                <a:cubicBezTo>
                  <a:pt x="0" y="257789"/>
                  <a:pt x="27961" y="285750"/>
                  <a:pt x="62508" y="285750"/>
                </a:cubicBezTo>
                <a:cubicBezTo>
                  <a:pt x="83325" y="285750"/>
                  <a:pt x="101743" y="275592"/>
                  <a:pt x="113128" y="259910"/>
                </a:cubicBezTo>
                <a:cubicBezTo>
                  <a:pt x="103640" y="243948"/>
                  <a:pt x="98227" y="225307"/>
                  <a:pt x="98227" y="205383"/>
                </a:cubicBezTo>
                <a:close/>
                <a:moveTo>
                  <a:pt x="134336" y="242999"/>
                </a:moveTo>
                <a:cubicBezTo>
                  <a:pt x="136903" y="247855"/>
                  <a:pt x="143433" y="248413"/>
                  <a:pt x="147340" y="244506"/>
                </a:cubicBezTo>
                <a:lnTo>
                  <a:pt x="244506" y="147340"/>
                </a:lnTo>
                <a:cubicBezTo>
                  <a:pt x="248413" y="143433"/>
                  <a:pt x="247855" y="136903"/>
                  <a:pt x="242999" y="134336"/>
                </a:cubicBezTo>
                <a:cubicBezTo>
                  <a:pt x="231781" y="128364"/>
                  <a:pt x="219001" y="125016"/>
                  <a:pt x="205383" y="125016"/>
                </a:cubicBezTo>
                <a:cubicBezTo>
                  <a:pt x="161013" y="125016"/>
                  <a:pt x="125016" y="161013"/>
                  <a:pt x="125016" y="205383"/>
                </a:cubicBezTo>
                <a:cubicBezTo>
                  <a:pt x="125016" y="218945"/>
                  <a:pt x="128364" y="231781"/>
                  <a:pt x="134336" y="242999"/>
                </a:cubicBezTo>
                <a:close/>
                <a:moveTo>
                  <a:pt x="166260" y="263426"/>
                </a:moveTo>
                <a:cubicBezTo>
                  <a:pt x="162353" y="267333"/>
                  <a:pt x="162911" y="273862"/>
                  <a:pt x="167767" y="276430"/>
                </a:cubicBezTo>
                <a:cubicBezTo>
                  <a:pt x="178984" y="282401"/>
                  <a:pt x="191765" y="285750"/>
                  <a:pt x="205383" y="285750"/>
                </a:cubicBezTo>
                <a:cubicBezTo>
                  <a:pt x="249752" y="285750"/>
                  <a:pt x="285750" y="249752"/>
                  <a:pt x="285750" y="205383"/>
                </a:cubicBezTo>
                <a:cubicBezTo>
                  <a:pt x="285750" y="191821"/>
                  <a:pt x="282401" y="178984"/>
                  <a:pt x="276430" y="167767"/>
                </a:cubicBezTo>
                <a:cubicBezTo>
                  <a:pt x="273862" y="162911"/>
                  <a:pt x="267333" y="162353"/>
                  <a:pt x="263426" y="166260"/>
                </a:cubicBezTo>
                <a:lnTo>
                  <a:pt x="166260" y="263426"/>
                </a:lnTo>
                <a:close/>
              </a:path>
            </a:pathLst>
          </a:custGeom>
          <a:solidFill>
            <a:srgbClr val="F8F7F4"/>
          </a:solidFill>
          <a:ln/>
        </p:spPr>
      </p:sp>
      <p:sp>
        <p:nvSpPr>
          <p:cNvPr id="17" name="Text 15"/>
          <p:cNvSpPr/>
          <p:nvPr/>
        </p:nvSpPr>
        <p:spPr>
          <a:xfrm>
            <a:off x="4495800" y="2971800"/>
            <a:ext cx="33147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4F4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Аптеки на картата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95800" y="3381375"/>
            <a:ext cx="3276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2D2D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Локализиране на най-близките аптеки с информация за налични лекарства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95800" y="4300538"/>
            <a:ext cx="3200400" cy="9525"/>
          </a:xfrm>
          <a:custGeom>
            <a:avLst/>
            <a:gdLst/>
            <a:ahLst/>
            <a:cxnLst/>
            <a:rect l="l" t="t" r="r" b="b"/>
            <a:pathLst>
              <a:path w="3200400" h="9525">
                <a:moveTo>
                  <a:pt x="0" y="0"/>
                </a:moveTo>
                <a:lnTo>
                  <a:pt x="3200400" y="0"/>
                </a:lnTo>
                <a:lnTo>
                  <a:pt x="32004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A4F41">
              <a:alpha val="1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514850" y="44958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C97B61"/>
          </a:solidFill>
          <a:ln/>
        </p:spPr>
      </p:sp>
      <p:sp>
        <p:nvSpPr>
          <p:cNvPr id="21" name="Text 19"/>
          <p:cNvSpPr/>
          <p:nvPr/>
        </p:nvSpPr>
        <p:spPr>
          <a:xfrm>
            <a:off x="4724400" y="4457700"/>
            <a:ext cx="3038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2D2D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Работно време и контакти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153400" y="1943100"/>
            <a:ext cx="3657600" cy="2933700"/>
          </a:xfrm>
          <a:custGeom>
            <a:avLst/>
            <a:gdLst/>
            <a:ahLst/>
            <a:cxnLst/>
            <a:rect l="l" t="t" r="r" b="b"/>
            <a:pathLst>
              <a:path w="3657600" h="2933700">
                <a:moveTo>
                  <a:pt x="152406" y="0"/>
                </a:moveTo>
                <a:lnTo>
                  <a:pt x="3505194" y="0"/>
                </a:lnTo>
                <a:cubicBezTo>
                  <a:pt x="3589309" y="0"/>
                  <a:pt x="3657600" y="68291"/>
                  <a:pt x="3657600" y="152406"/>
                </a:cubicBezTo>
                <a:lnTo>
                  <a:pt x="3657600" y="2781294"/>
                </a:lnTo>
                <a:cubicBezTo>
                  <a:pt x="3657600" y="2865409"/>
                  <a:pt x="3589309" y="2933700"/>
                  <a:pt x="3505194" y="2933700"/>
                </a:cubicBezTo>
                <a:lnTo>
                  <a:pt x="152406" y="2933700"/>
                </a:lnTo>
                <a:cubicBezTo>
                  <a:pt x="68291" y="2933700"/>
                  <a:pt x="0" y="2865409"/>
                  <a:pt x="0" y="2781294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382000" y="21717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A9B8D"/>
          </a:solidFill>
          <a:ln/>
        </p:spPr>
      </p:sp>
      <p:sp>
        <p:nvSpPr>
          <p:cNvPr id="24" name="Shape 22"/>
          <p:cNvSpPr/>
          <p:nvPr/>
        </p:nvSpPr>
        <p:spPr>
          <a:xfrm>
            <a:off x="8546306" y="23336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5750" y="53578"/>
                </a:moveTo>
                <a:cubicBezTo>
                  <a:pt x="285750" y="81595"/>
                  <a:pt x="252766" y="123397"/>
                  <a:pt x="238534" y="140084"/>
                </a:cubicBezTo>
                <a:cubicBezTo>
                  <a:pt x="236413" y="142540"/>
                  <a:pt x="233288" y="143489"/>
                  <a:pt x="230442" y="142875"/>
                </a:cubicBezTo>
                <a:lnTo>
                  <a:pt x="178594" y="142875"/>
                </a:lnTo>
                <a:cubicBezTo>
                  <a:pt x="168715" y="142875"/>
                  <a:pt x="160734" y="150856"/>
                  <a:pt x="160734" y="160734"/>
                </a:cubicBezTo>
                <a:cubicBezTo>
                  <a:pt x="160734" y="170613"/>
                  <a:pt x="168715" y="178594"/>
                  <a:pt x="178594" y="178594"/>
                </a:cubicBezTo>
                <a:lnTo>
                  <a:pt x="232172" y="178594"/>
                </a:lnTo>
                <a:cubicBezTo>
                  <a:pt x="261751" y="178594"/>
                  <a:pt x="285750" y="202592"/>
                  <a:pt x="285750" y="232172"/>
                </a:cubicBezTo>
                <a:cubicBezTo>
                  <a:pt x="285750" y="261751"/>
                  <a:pt x="261751" y="285750"/>
                  <a:pt x="232172" y="285750"/>
                </a:cubicBezTo>
                <a:lnTo>
                  <a:pt x="77912" y="285750"/>
                </a:lnTo>
                <a:cubicBezTo>
                  <a:pt x="82767" y="280225"/>
                  <a:pt x="88683" y="273137"/>
                  <a:pt x="94655" y="265212"/>
                </a:cubicBezTo>
                <a:cubicBezTo>
                  <a:pt x="98171" y="260524"/>
                  <a:pt x="101798" y="255389"/>
                  <a:pt x="105259" y="250031"/>
                </a:cubicBezTo>
                <a:lnTo>
                  <a:pt x="232172" y="250031"/>
                </a:lnTo>
                <a:cubicBezTo>
                  <a:pt x="242050" y="250031"/>
                  <a:pt x="250031" y="242050"/>
                  <a:pt x="250031" y="232172"/>
                </a:cubicBezTo>
                <a:cubicBezTo>
                  <a:pt x="250031" y="222293"/>
                  <a:pt x="242050" y="214313"/>
                  <a:pt x="232172" y="214313"/>
                </a:cubicBezTo>
                <a:lnTo>
                  <a:pt x="178594" y="214313"/>
                </a:lnTo>
                <a:cubicBezTo>
                  <a:pt x="149014" y="214313"/>
                  <a:pt x="125016" y="190314"/>
                  <a:pt x="125016" y="160734"/>
                </a:cubicBezTo>
                <a:cubicBezTo>
                  <a:pt x="125016" y="131155"/>
                  <a:pt x="149014" y="107156"/>
                  <a:pt x="178594" y="107156"/>
                </a:cubicBezTo>
                <a:lnTo>
                  <a:pt x="200806" y="107156"/>
                </a:lnTo>
                <a:cubicBezTo>
                  <a:pt x="189086" y="89576"/>
                  <a:pt x="178594" y="69373"/>
                  <a:pt x="178594" y="53578"/>
                </a:cubicBezTo>
                <a:cubicBezTo>
                  <a:pt x="178594" y="23999"/>
                  <a:pt x="202592" y="0"/>
                  <a:pt x="232172" y="0"/>
                </a:cubicBezTo>
                <a:cubicBezTo>
                  <a:pt x="261751" y="0"/>
                  <a:pt x="285750" y="23999"/>
                  <a:pt x="285750" y="53578"/>
                </a:cubicBezTo>
                <a:close/>
                <a:moveTo>
                  <a:pt x="65354" y="272969"/>
                </a:moveTo>
                <a:cubicBezTo>
                  <a:pt x="63233" y="275369"/>
                  <a:pt x="61336" y="277490"/>
                  <a:pt x="59717" y="279276"/>
                </a:cubicBezTo>
                <a:lnTo>
                  <a:pt x="58713" y="280392"/>
                </a:lnTo>
                <a:lnTo>
                  <a:pt x="58601" y="280281"/>
                </a:lnTo>
                <a:cubicBezTo>
                  <a:pt x="55252" y="282848"/>
                  <a:pt x="50453" y="282513"/>
                  <a:pt x="47439" y="279276"/>
                </a:cubicBezTo>
                <a:cubicBezTo>
                  <a:pt x="33375" y="263984"/>
                  <a:pt x="0" y="224637"/>
                  <a:pt x="0" y="196453"/>
                </a:cubicBezTo>
                <a:cubicBezTo>
                  <a:pt x="0" y="166874"/>
                  <a:pt x="23999" y="142875"/>
                  <a:pt x="53578" y="142875"/>
                </a:cubicBezTo>
                <a:cubicBezTo>
                  <a:pt x="83158" y="142875"/>
                  <a:pt x="107156" y="166874"/>
                  <a:pt x="107156" y="196453"/>
                </a:cubicBezTo>
                <a:cubicBezTo>
                  <a:pt x="107156" y="213196"/>
                  <a:pt x="95380" y="233846"/>
                  <a:pt x="82879" y="251092"/>
                </a:cubicBezTo>
                <a:cubicBezTo>
                  <a:pt x="76907" y="259296"/>
                  <a:pt x="70768" y="266719"/>
                  <a:pt x="65689" y="272579"/>
                </a:cubicBezTo>
                <a:lnTo>
                  <a:pt x="65354" y="272969"/>
                </a:lnTo>
                <a:close/>
                <a:moveTo>
                  <a:pt x="71438" y="196453"/>
                </a:moveTo>
                <a:cubicBezTo>
                  <a:pt x="71438" y="186596"/>
                  <a:pt x="63435" y="178594"/>
                  <a:pt x="53578" y="178594"/>
                </a:cubicBezTo>
                <a:cubicBezTo>
                  <a:pt x="43721" y="178594"/>
                  <a:pt x="35719" y="186596"/>
                  <a:pt x="35719" y="196453"/>
                </a:cubicBezTo>
                <a:cubicBezTo>
                  <a:pt x="35719" y="206310"/>
                  <a:pt x="43721" y="214313"/>
                  <a:pt x="53578" y="214313"/>
                </a:cubicBezTo>
                <a:cubicBezTo>
                  <a:pt x="63435" y="214313"/>
                  <a:pt x="71438" y="206310"/>
                  <a:pt x="71438" y="196453"/>
                </a:cubicBezTo>
                <a:close/>
                <a:moveTo>
                  <a:pt x="232172" y="71438"/>
                </a:moveTo>
                <a:cubicBezTo>
                  <a:pt x="242029" y="71438"/>
                  <a:pt x="250031" y="63435"/>
                  <a:pt x="250031" y="53578"/>
                </a:cubicBezTo>
                <a:cubicBezTo>
                  <a:pt x="250031" y="43721"/>
                  <a:pt x="242029" y="35719"/>
                  <a:pt x="232172" y="35719"/>
                </a:cubicBezTo>
                <a:cubicBezTo>
                  <a:pt x="222315" y="35719"/>
                  <a:pt x="214313" y="43721"/>
                  <a:pt x="214313" y="53578"/>
                </a:cubicBezTo>
                <a:cubicBezTo>
                  <a:pt x="214313" y="63435"/>
                  <a:pt x="222315" y="71438"/>
                  <a:pt x="232172" y="71438"/>
                </a:cubicBezTo>
                <a:close/>
              </a:path>
            </a:pathLst>
          </a:custGeom>
          <a:solidFill>
            <a:srgbClr val="F8F7F4"/>
          </a:solidFill>
          <a:ln/>
        </p:spPr>
      </p:sp>
      <p:sp>
        <p:nvSpPr>
          <p:cNvPr id="25" name="Text 23"/>
          <p:cNvSpPr/>
          <p:nvPr/>
        </p:nvSpPr>
        <p:spPr>
          <a:xfrm>
            <a:off x="8382000" y="2971800"/>
            <a:ext cx="33147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4F4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Оптимизирани маршрути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382000" y="3381375"/>
            <a:ext cx="3276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2D2D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Навигация с най-бърз път до медицинските заведения, избягвайки опасни зони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382000" y="4300538"/>
            <a:ext cx="3200400" cy="9525"/>
          </a:xfrm>
          <a:custGeom>
            <a:avLst/>
            <a:gdLst/>
            <a:ahLst/>
            <a:cxnLst/>
            <a:rect l="l" t="t" r="r" b="b"/>
            <a:pathLst>
              <a:path w="3200400" h="9525">
                <a:moveTo>
                  <a:pt x="0" y="0"/>
                </a:moveTo>
                <a:lnTo>
                  <a:pt x="3200400" y="0"/>
                </a:lnTo>
                <a:lnTo>
                  <a:pt x="32004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A4F41">
              <a:alpha val="1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401050" y="44958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C97B61"/>
          </a:solidFill>
          <a:ln/>
        </p:spPr>
      </p:sp>
      <p:sp>
        <p:nvSpPr>
          <p:cNvPr id="29" name="Text 27"/>
          <p:cNvSpPr/>
          <p:nvPr/>
        </p:nvSpPr>
        <p:spPr>
          <a:xfrm>
            <a:off x="8610600" y="4457700"/>
            <a:ext cx="3038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2D2D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Реално време актуализации</a:t>
            </a:r>
            <a:endParaRPr lang="en-US" sz="1600" dirty="0"/>
          </a:p>
        </p:txBody>
      </p:sp>
      <p:pic>
        <p:nvPicPr>
          <p:cNvPr id="30" name="Image 0" descr="https://kimi-web-img.moonshot.cn/img/www.ruralhealthinfo.org/25a501214a2c002503e58328c14415ee6a111e6c.jpg"/>
          <p:cNvPicPr>
            <a:picLocks noChangeAspect="1"/>
          </p:cNvPicPr>
          <p:nvPr/>
        </p:nvPicPr>
        <p:blipFill>
          <a:blip r:embed="rId3"/>
          <a:srcRect t="38535" b="38535"/>
          <a:stretch/>
        </p:blipFill>
        <p:spPr>
          <a:xfrm>
            <a:off x="381000" y="5105400"/>
            <a:ext cx="11430000" cy="1371600"/>
          </a:xfrm>
          <a:prstGeom prst="roundRect">
            <a:avLst>
              <a:gd name="adj" fmla="val 11111"/>
            </a:avLst>
          </a:prstGeom>
        </p:spPr>
      </p:pic>
      <p:sp>
        <p:nvSpPr>
          <p:cNvPr id="31" name="Shape 28"/>
          <p:cNvSpPr/>
          <p:nvPr/>
        </p:nvSpPr>
        <p:spPr>
          <a:xfrm>
            <a:off x="381000" y="5105400"/>
            <a:ext cx="11430000" cy="1371600"/>
          </a:xfrm>
          <a:custGeom>
            <a:avLst/>
            <a:gdLst/>
            <a:ahLst/>
            <a:cxnLst/>
            <a:rect l="l" t="t" r="r" b="b"/>
            <a:pathLst>
              <a:path w="11430000" h="1371600">
                <a:moveTo>
                  <a:pt x="0" y="0"/>
                </a:moveTo>
                <a:lnTo>
                  <a:pt x="11430000" y="0"/>
                </a:lnTo>
                <a:lnTo>
                  <a:pt x="114300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A4F41">
                  <a:alpha val="90000"/>
                </a:srgbClr>
              </a:gs>
              <a:gs pos="50000">
                <a:srgbClr val="3A4F41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2" name="Text 29"/>
          <p:cNvSpPr/>
          <p:nvPr/>
        </p:nvSpPr>
        <p:spPr>
          <a:xfrm>
            <a:off x="685800" y="5486400"/>
            <a:ext cx="64960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8F7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24% от населението на България е над 65 години - тези хора се нуждаят от бърз достъп до медицинска помощ при кризи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A4F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561975"/>
            <a:ext cx="1381125" cy="304800"/>
          </a:xfrm>
          <a:custGeom>
            <a:avLst/>
            <a:gdLst/>
            <a:ahLst/>
            <a:cxnLst/>
            <a:rect l="l" t="t" r="r" b="b"/>
            <a:pathLst>
              <a:path w="1381125" h="304800">
                <a:moveTo>
                  <a:pt x="152400" y="0"/>
                </a:moveTo>
                <a:lnTo>
                  <a:pt x="1228725" y="0"/>
                </a:lnTo>
                <a:cubicBezTo>
                  <a:pt x="1312837" y="0"/>
                  <a:pt x="1381125" y="68288"/>
                  <a:pt x="1381125" y="152400"/>
                </a:cubicBezTo>
                <a:lnTo>
                  <a:pt x="1381125" y="152400"/>
                </a:lnTo>
                <a:cubicBezTo>
                  <a:pt x="1381125" y="236512"/>
                  <a:pt x="1312837" y="304800"/>
                  <a:pt x="1228725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C97B61"/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619125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F8F7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Компонент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019175"/>
            <a:ext cx="5791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8F7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Ръководства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8F7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за оцеляване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2276475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97B61"/>
          </a:solidFill>
          <a:ln/>
        </p:spPr>
      </p:sp>
      <p:sp>
        <p:nvSpPr>
          <p:cNvPr id="6" name="Shape 4"/>
          <p:cNvSpPr/>
          <p:nvPr/>
        </p:nvSpPr>
        <p:spPr>
          <a:xfrm>
            <a:off x="381000" y="26193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97B61">
              <a:alpha val="3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14350" y="27527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6789"/>
                </a:moveTo>
                <a:cubicBezTo>
                  <a:pt x="0" y="21878"/>
                  <a:pt x="3981" y="17859"/>
                  <a:pt x="8930" y="17859"/>
                </a:cubicBezTo>
                <a:lnTo>
                  <a:pt x="26789" y="17859"/>
                </a:lnTo>
                <a:cubicBezTo>
                  <a:pt x="31738" y="17859"/>
                  <a:pt x="35719" y="21841"/>
                  <a:pt x="35719" y="26789"/>
                </a:cubicBezTo>
                <a:lnTo>
                  <a:pt x="35719" y="65484"/>
                </a:lnTo>
                <a:lnTo>
                  <a:pt x="44648" y="65484"/>
                </a:lnTo>
                <a:cubicBezTo>
                  <a:pt x="49597" y="65484"/>
                  <a:pt x="53578" y="69466"/>
                  <a:pt x="53578" y="74414"/>
                </a:cubicBezTo>
                <a:cubicBezTo>
                  <a:pt x="53578" y="79363"/>
                  <a:pt x="49597" y="83344"/>
                  <a:pt x="44648" y="83344"/>
                </a:cubicBezTo>
                <a:lnTo>
                  <a:pt x="8930" y="83344"/>
                </a:lnTo>
                <a:cubicBezTo>
                  <a:pt x="3981" y="83344"/>
                  <a:pt x="0" y="79363"/>
                  <a:pt x="0" y="74414"/>
                </a:cubicBezTo>
                <a:cubicBezTo>
                  <a:pt x="0" y="69466"/>
                  <a:pt x="3981" y="65484"/>
                  <a:pt x="8930" y="65484"/>
                </a:cubicBezTo>
                <a:lnTo>
                  <a:pt x="17859" y="65484"/>
                </a:lnTo>
                <a:lnTo>
                  <a:pt x="17859" y="35719"/>
                </a:lnTo>
                <a:lnTo>
                  <a:pt x="8930" y="35719"/>
                </a:lnTo>
                <a:cubicBezTo>
                  <a:pt x="3981" y="35719"/>
                  <a:pt x="0" y="31738"/>
                  <a:pt x="0" y="26789"/>
                </a:cubicBezTo>
                <a:close/>
                <a:moveTo>
                  <a:pt x="11311" y="112068"/>
                </a:moveTo>
                <a:cubicBezTo>
                  <a:pt x="15553" y="108868"/>
                  <a:pt x="20724" y="107156"/>
                  <a:pt x="26045" y="107156"/>
                </a:cubicBezTo>
                <a:lnTo>
                  <a:pt x="27868" y="107156"/>
                </a:lnTo>
                <a:cubicBezTo>
                  <a:pt x="40407" y="107156"/>
                  <a:pt x="50602" y="117351"/>
                  <a:pt x="50602" y="129890"/>
                </a:cubicBezTo>
                <a:cubicBezTo>
                  <a:pt x="50602" y="137182"/>
                  <a:pt x="47104" y="143991"/>
                  <a:pt x="41225" y="148270"/>
                </a:cubicBezTo>
                <a:lnTo>
                  <a:pt x="32296" y="154781"/>
                </a:lnTo>
                <a:lnTo>
                  <a:pt x="44648" y="154781"/>
                </a:lnTo>
                <a:cubicBezTo>
                  <a:pt x="49597" y="154781"/>
                  <a:pt x="53578" y="158762"/>
                  <a:pt x="53578" y="163711"/>
                </a:cubicBezTo>
                <a:cubicBezTo>
                  <a:pt x="53578" y="168659"/>
                  <a:pt x="49597" y="172641"/>
                  <a:pt x="44648" y="172641"/>
                </a:cubicBezTo>
                <a:lnTo>
                  <a:pt x="10902" y="172641"/>
                </a:lnTo>
                <a:cubicBezTo>
                  <a:pt x="4874" y="172641"/>
                  <a:pt x="0" y="167767"/>
                  <a:pt x="0" y="161739"/>
                </a:cubicBezTo>
                <a:cubicBezTo>
                  <a:pt x="0" y="158242"/>
                  <a:pt x="1674" y="154967"/>
                  <a:pt x="4502" y="152921"/>
                </a:cubicBezTo>
                <a:lnTo>
                  <a:pt x="30733" y="133834"/>
                </a:lnTo>
                <a:cubicBezTo>
                  <a:pt x="31998" y="132904"/>
                  <a:pt x="32742" y="131452"/>
                  <a:pt x="32742" y="129890"/>
                </a:cubicBezTo>
                <a:cubicBezTo>
                  <a:pt x="32742" y="127211"/>
                  <a:pt x="30547" y="125016"/>
                  <a:pt x="27868" y="125016"/>
                </a:cubicBezTo>
                <a:lnTo>
                  <a:pt x="26045" y="125016"/>
                </a:lnTo>
                <a:cubicBezTo>
                  <a:pt x="24594" y="125016"/>
                  <a:pt x="23180" y="125499"/>
                  <a:pt x="22027" y="126355"/>
                </a:cubicBezTo>
                <a:lnTo>
                  <a:pt x="14288" y="132159"/>
                </a:lnTo>
                <a:cubicBezTo>
                  <a:pt x="10344" y="135136"/>
                  <a:pt x="4762" y="134317"/>
                  <a:pt x="1786" y="130373"/>
                </a:cubicBezTo>
                <a:cubicBezTo>
                  <a:pt x="-1191" y="126429"/>
                  <a:pt x="-372" y="120848"/>
                  <a:pt x="3572" y="117872"/>
                </a:cubicBezTo>
                <a:lnTo>
                  <a:pt x="11311" y="112068"/>
                </a:lnTo>
                <a:close/>
                <a:moveTo>
                  <a:pt x="83344" y="23812"/>
                </a:moveTo>
                <a:lnTo>
                  <a:pt x="178594" y="23812"/>
                </a:lnTo>
                <a:cubicBezTo>
                  <a:pt x="185179" y="23812"/>
                  <a:pt x="190500" y="29133"/>
                  <a:pt x="190500" y="35719"/>
                </a:cubicBezTo>
                <a:cubicBezTo>
                  <a:pt x="190500" y="42304"/>
                  <a:pt x="185179" y="47625"/>
                  <a:pt x="178594" y="47625"/>
                </a:cubicBezTo>
                <a:lnTo>
                  <a:pt x="83344" y="47625"/>
                </a:lnTo>
                <a:cubicBezTo>
                  <a:pt x="76758" y="47625"/>
                  <a:pt x="71438" y="42304"/>
                  <a:pt x="71438" y="35719"/>
                </a:cubicBezTo>
                <a:cubicBezTo>
                  <a:pt x="71438" y="29133"/>
                  <a:pt x="76758" y="23812"/>
                  <a:pt x="83344" y="23812"/>
                </a:cubicBezTo>
                <a:close/>
                <a:moveTo>
                  <a:pt x="83344" y="83344"/>
                </a:move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83344" y="107156"/>
                </a:lnTo>
                <a:cubicBezTo>
                  <a:pt x="76758" y="107156"/>
                  <a:pt x="71438" y="101836"/>
                  <a:pt x="71438" y="95250"/>
                </a:cubicBezTo>
                <a:cubicBezTo>
                  <a:pt x="71438" y="88664"/>
                  <a:pt x="76758" y="83344"/>
                  <a:pt x="83344" y="83344"/>
                </a:cubicBezTo>
                <a:close/>
                <a:moveTo>
                  <a:pt x="83344" y="142875"/>
                </a:move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83344" y="166688"/>
                </a:lnTo>
                <a:cubicBezTo>
                  <a:pt x="76758" y="166688"/>
                  <a:pt x="71438" y="161367"/>
                  <a:pt x="71438" y="154781"/>
                </a:cubicBezTo>
                <a:cubicBezTo>
                  <a:pt x="71438" y="148196"/>
                  <a:pt x="76758" y="142875"/>
                  <a:pt x="83344" y="142875"/>
                </a:cubicBezTo>
                <a:close/>
              </a:path>
            </a:pathLst>
          </a:custGeom>
          <a:solidFill>
            <a:srgbClr val="C97B61"/>
          </a:solidFill>
          <a:ln/>
        </p:spPr>
      </p:sp>
      <p:sp>
        <p:nvSpPr>
          <p:cNvPr id="8" name="Text 6"/>
          <p:cNvSpPr/>
          <p:nvPr/>
        </p:nvSpPr>
        <p:spPr>
          <a:xfrm>
            <a:off x="990600" y="2619375"/>
            <a:ext cx="4410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7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Стъпка по стъпка инструкции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90600" y="2962275"/>
            <a:ext cx="43910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7F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Ясни указания за действие при различни спешни ситуации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000" y="3438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97B61">
              <a:alpha val="3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02444" y="35718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59531" y="0"/>
                </a:moveTo>
                <a:cubicBezTo>
                  <a:pt x="66117" y="0"/>
                  <a:pt x="71438" y="5321"/>
                  <a:pt x="71438" y="11906"/>
                </a:cubicBezTo>
                <a:lnTo>
                  <a:pt x="71438" y="23812"/>
                </a:lnTo>
                <a:lnTo>
                  <a:pt x="119063" y="23812"/>
                </a:lnTo>
                <a:cubicBezTo>
                  <a:pt x="125648" y="23812"/>
                  <a:pt x="130969" y="29133"/>
                  <a:pt x="130969" y="35719"/>
                </a:cubicBezTo>
                <a:cubicBezTo>
                  <a:pt x="130969" y="42304"/>
                  <a:pt x="125648" y="47625"/>
                  <a:pt x="119063" y="47625"/>
                </a:cubicBezTo>
                <a:lnTo>
                  <a:pt x="115491" y="47625"/>
                </a:lnTo>
                <a:lnTo>
                  <a:pt x="112365" y="56220"/>
                </a:lnTo>
                <a:cubicBezTo>
                  <a:pt x="106263" y="73037"/>
                  <a:pt x="97073" y="88404"/>
                  <a:pt x="85502" y="101612"/>
                </a:cubicBezTo>
                <a:cubicBezTo>
                  <a:pt x="90785" y="104887"/>
                  <a:pt x="96292" y="107789"/>
                  <a:pt x="102022" y="110356"/>
                </a:cubicBezTo>
                <a:lnTo>
                  <a:pt x="120774" y="118690"/>
                </a:lnTo>
                <a:lnTo>
                  <a:pt x="143917" y="66601"/>
                </a:lnTo>
                <a:cubicBezTo>
                  <a:pt x="145814" y="62285"/>
                  <a:pt x="150093" y="59531"/>
                  <a:pt x="154781" y="59531"/>
                </a:cubicBezTo>
                <a:cubicBezTo>
                  <a:pt x="159469" y="59531"/>
                  <a:pt x="163748" y="62285"/>
                  <a:pt x="165646" y="66601"/>
                </a:cubicBezTo>
                <a:lnTo>
                  <a:pt x="213271" y="173757"/>
                </a:lnTo>
                <a:cubicBezTo>
                  <a:pt x="215950" y="179784"/>
                  <a:pt x="213233" y="186817"/>
                  <a:pt x="207243" y="189458"/>
                </a:cubicBezTo>
                <a:cubicBezTo>
                  <a:pt x="201253" y="192100"/>
                  <a:pt x="194183" y="189421"/>
                  <a:pt x="191542" y="183431"/>
                </a:cubicBezTo>
                <a:lnTo>
                  <a:pt x="184100" y="166688"/>
                </a:lnTo>
                <a:lnTo>
                  <a:pt x="125499" y="166688"/>
                </a:lnTo>
                <a:lnTo>
                  <a:pt x="118058" y="183431"/>
                </a:lnTo>
                <a:cubicBezTo>
                  <a:pt x="115379" y="189458"/>
                  <a:pt x="108347" y="192137"/>
                  <a:pt x="102357" y="189458"/>
                </a:cubicBezTo>
                <a:cubicBezTo>
                  <a:pt x="96366" y="186779"/>
                  <a:pt x="93650" y="179747"/>
                  <a:pt x="96329" y="173757"/>
                </a:cubicBezTo>
                <a:lnTo>
                  <a:pt x="111137" y="140457"/>
                </a:lnTo>
                <a:lnTo>
                  <a:pt x="92385" y="132122"/>
                </a:lnTo>
                <a:cubicBezTo>
                  <a:pt x="83827" y="128327"/>
                  <a:pt x="75642" y="123788"/>
                  <a:pt x="67903" y="118579"/>
                </a:cubicBezTo>
                <a:cubicBezTo>
                  <a:pt x="59978" y="124978"/>
                  <a:pt x="51308" y="130559"/>
                  <a:pt x="42044" y="135210"/>
                </a:cubicBezTo>
                <a:lnTo>
                  <a:pt x="29133" y="141610"/>
                </a:lnTo>
                <a:cubicBezTo>
                  <a:pt x="23254" y="144549"/>
                  <a:pt x="16111" y="142168"/>
                  <a:pt x="13171" y="136289"/>
                </a:cubicBezTo>
                <a:cubicBezTo>
                  <a:pt x="10232" y="130411"/>
                  <a:pt x="12613" y="123267"/>
                  <a:pt x="18492" y="120328"/>
                </a:cubicBezTo>
                <a:lnTo>
                  <a:pt x="31328" y="113891"/>
                </a:lnTo>
                <a:cubicBezTo>
                  <a:pt x="37393" y="110840"/>
                  <a:pt x="43160" y="107305"/>
                  <a:pt x="48592" y="103361"/>
                </a:cubicBezTo>
                <a:cubicBezTo>
                  <a:pt x="43458" y="98636"/>
                  <a:pt x="38621" y="93538"/>
                  <a:pt x="34119" y="88143"/>
                </a:cubicBezTo>
                <a:lnTo>
                  <a:pt x="30361" y="83604"/>
                </a:lnTo>
                <a:cubicBezTo>
                  <a:pt x="26157" y="78544"/>
                  <a:pt x="26826" y="71028"/>
                  <a:pt x="31886" y="66824"/>
                </a:cubicBezTo>
                <a:cubicBezTo>
                  <a:pt x="36947" y="62619"/>
                  <a:pt x="44462" y="63289"/>
                  <a:pt x="48667" y="68349"/>
                </a:cubicBezTo>
                <a:lnTo>
                  <a:pt x="52462" y="72889"/>
                </a:lnTo>
                <a:cubicBezTo>
                  <a:pt x="56741" y="78060"/>
                  <a:pt x="61429" y="82860"/>
                  <a:pt x="66377" y="87288"/>
                </a:cubicBezTo>
                <a:cubicBezTo>
                  <a:pt x="76609" y="75977"/>
                  <a:pt x="84683" y="62694"/>
                  <a:pt x="90004" y="48071"/>
                </a:cubicBezTo>
                <a:lnTo>
                  <a:pt x="90190" y="47625"/>
                </a:lnTo>
                <a:lnTo>
                  <a:pt x="11943" y="47625"/>
                </a:lnTo>
                <a:cubicBezTo>
                  <a:pt x="5321" y="47625"/>
                  <a:pt x="0" y="42304"/>
                  <a:pt x="0" y="35719"/>
                </a:cubicBezTo>
                <a:cubicBezTo>
                  <a:pt x="0" y="29133"/>
                  <a:pt x="5321" y="23812"/>
                  <a:pt x="11906" y="23812"/>
                </a:cubicBezTo>
                <a:lnTo>
                  <a:pt x="47625" y="23812"/>
                </a:lnTo>
                <a:lnTo>
                  <a:pt x="47625" y="11906"/>
                </a:lnTo>
                <a:cubicBezTo>
                  <a:pt x="47625" y="5321"/>
                  <a:pt x="52946" y="0"/>
                  <a:pt x="59531" y="0"/>
                </a:cubicBezTo>
                <a:close/>
                <a:moveTo>
                  <a:pt x="154781" y="100757"/>
                </a:moveTo>
                <a:lnTo>
                  <a:pt x="136066" y="142875"/>
                </a:lnTo>
                <a:lnTo>
                  <a:pt x="173496" y="142875"/>
                </a:lnTo>
                <a:lnTo>
                  <a:pt x="154781" y="100757"/>
                </a:lnTo>
                <a:close/>
              </a:path>
            </a:pathLst>
          </a:custGeom>
          <a:solidFill>
            <a:srgbClr val="C97B61"/>
          </a:solidFill>
          <a:ln/>
        </p:spPr>
      </p:sp>
      <p:sp>
        <p:nvSpPr>
          <p:cNvPr id="12" name="Text 10"/>
          <p:cNvSpPr/>
          <p:nvPr/>
        </p:nvSpPr>
        <p:spPr>
          <a:xfrm>
            <a:off x="990600" y="3438525"/>
            <a:ext cx="504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7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Прост език без жаргон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90600" y="3781425"/>
            <a:ext cx="5029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7F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Написано така, че да бъде разбрано от всеки, независимо от образованието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1000" y="45053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97B61">
              <a:alpha val="3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90538" y="463867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C97B61"/>
          </a:solidFill>
          <a:ln/>
        </p:spPr>
      </p:sp>
      <p:sp>
        <p:nvSpPr>
          <p:cNvPr id="16" name="Text 14"/>
          <p:cNvSpPr/>
          <p:nvPr/>
        </p:nvSpPr>
        <p:spPr>
          <a:xfrm>
            <a:off x="990600" y="4505325"/>
            <a:ext cx="4295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7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Достъпно за всички възрасти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90600" y="4848225"/>
            <a:ext cx="42767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7F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Подходящо за деца, възрастни хора и хора с увреждания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5763" y="5405438"/>
            <a:ext cx="5553075" cy="885825"/>
          </a:xfrm>
          <a:custGeom>
            <a:avLst/>
            <a:gdLst/>
            <a:ahLst/>
            <a:cxnLst/>
            <a:rect l="l" t="t" r="r" b="b"/>
            <a:pathLst>
              <a:path w="5553075" h="885825">
                <a:moveTo>
                  <a:pt x="114298" y="0"/>
                </a:moveTo>
                <a:lnTo>
                  <a:pt x="5438777" y="0"/>
                </a:lnTo>
                <a:cubicBezTo>
                  <a:pt x="5501860" y="0"/>
                  <a:pt x="5553075" y="51215"/>
                  <a:pt x="5553075" y="114298"/>
                </a:cubicBezTo>
                <a:lnTo>
                  <a:pt x="5553075" y="771527"/>
                </a:lnTo>
                <a:cubicBezTo>
                  <a:pt x="5553075" y="834610"/>
                  <a:pt x="5501860" y="885825"/>
                  <a:pt x="5438777" y="885825"/>
                </a:cubicBezTo>
                <a:lnTo>
                  <a:pt x="114298" y="885825"/>
                </a:lnTo>
                <a:cubicBezTo>
                  <a:pt x="51215" y="885825"/>
                  <a:pt x="0" y="834610"/>
                  <a:pt x="0" y="7715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C97B61">
              <a:alpha val="20000"/>
            </a:srgbClr>
          </a:solidFill>
          <a:ln w="12700">
            <a:solidFill>
              <a:srgbClr val="C97B61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9600" y="56578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0" y="64294"/>
                </a:moveTo>
                <a:cubicBezTo>
                  <a:pt x="0" y="44559"/>
                  <a:pt x="15984" y="28575"/>
                  <a:pt x="35719" y="28575"/>
                </a:cubicBezTo>
                <a:lnTo>
                  <a:pt x="38100" y="28575"/>
                </a:lnTo>
                <a:cubicBezTo>
                  <a:pt x="43369" y="28575"/>
                  <a:pt x="47625" y="32831"/>
                  <a:pt x="47625" y="38100"/>
                </a:cubicBezTo>
                <a:cubicBezTo>
                  <a:pt x="47625" y="43369"/>
                  <a:pt x="43369" y="47625"/>
                  <a:pt x="38100" y="47625"/>
                </a:cubicBezTo>
                <a:lnTo>
                  <a:pt x="35719" y="47625"/>
                </a:lnTo>
                <a:cubicBezTo>
                  <a:pt x="26521" y="47625"/>
                  <a:pt x="19050" y="55096"/>
                  <a:pt x="19050" y="64294"/>
                </a:cubicBezTo>
                <a:lnTo>
                  <a:pt x="19050" y="66675"/>
                </a:lnTo>
                <a:lnTo>
                  <a:pt x="38100" y="66675"/>
                </a:lnTo>
                <a:cubicBezTo>
                  <a:pt x="48607" y="66675"/>
                  <a:pt x="57150" y="75218"/>
                  <a:pt x="57150" y="85725"/>
                </a:cubicBezTo>
                <a:lnTo>
                  <a:pt x="57150" y="104775"/>
                </a:lnTo>
                <a:cubicBezTo>
                  <a:pt x="57150" y="115282"/>
                  <a:pt x="48607" y="123825"/>
                  <a:pt x="38100" y="123825"/>
                </a:cubicBezTo>
                <a:lnTo>
                  <a:pt x="19050" y="123825"/>
                </a:lnTo>
                <a:cubicBezTo>
                  <a:pt x="8543" y="123825"/>
                  <a:pt x="0" y="115282"/>
                  <a:pt x="0" y="104775"/>
                </a:cubicBezTo>
                <a:lnTo>
                  <a:pt x="0" y="64294"/>
                </a:lnTo>
                <a:close/>
                <a:moveTo>
                  <a:pt x="76200" y="64294"/>
                </a:moveTo>
                <a:cubicBezTo>
                  <a:pt x="76200" y="44559"/>
                  <a:pt x="92184" y="28575"/>
                  <a:pt x="111919" y="28575"/>
                </a:cubicBezTo>
                <a:lnTo>
                  <a:pt x="114300" y="28575"/>
                </a:lnTo>
                <a:cubicBezTo>
                  <a:pt x="119569" y="28575"/>
                  <a:pt x="123825" y="32831"/>
                  <a:pt x="123825" y="38100"/>
                </a:cubicBezTo>
                <a:cubicBezTo>
                  <a:pt x="123825" y="43369"/>
                  <a:pt x="119569" y="47625"/>
                  <a:pt x="114300" y="47625"/>
                </a:cubicBezTo>
                <a:lnTo>
                  <a:pt x="111919" y="47625"/>
                </a:lnTo>
                <a:cubicBezTo>
                  <a:pt x="102721" y="47625"/>
                  <a:pt x="95250" y="55096"/>
                  <a:pt x="95250" y="64294"/>
                </a:cubicBezTo>
                <a:lnTo>
                  <a:pt x="95250" y="66675"/>
                </a:lnTo>
                <a:lnTo>
                  <a:pt x="114300" y="66675"/>
                </a:lnTo>
                <a:cubicBezTo>
                  <a:pt x="124807" y="66675"/>
                  <a:pt x="133350" y="75218"/>
                  <a:pt x="133350" y="85725"/>
                </a:cubicBezTo>
                <a:lnTo>
                  <a:pt x="133350" y="104775"/>
                </a:lnTo>
                <a:cubicBezTo>
                  <a:pt x="133350" y="115282"/>
                  <a:pt x="124807" y="123825"/>
                  <a:pt x="114300" y="123825"/>
                </a:cubicBezTo>
                <a:lnTo>
                  <a:pt x="95250" y="123825"/>
                </a:lnTo>
                <a:cubicBezTo>
                  <a:pt x="84743" y="123825"/>
                  <a:pt x="76200" y="115282"/>
                  <a:pt x="76200" y="104775"/>
                </a:cubicBezTo>
                <a:lnTo>
                  <a:pt x="76200" y="64294"/>
                </a:lnTo>
                <a:close/>
              </a:path>
            </a:pathLst>
          </a:custGeom>
          <a:solidFill>
            <a:srgbClr val="C97B61"/>
          </a:solidFill>
          <a:ln/>
        </p:spPr>
      </p:sp>
      <p:sp>
        <p:nvSpPr>
          <p:cNvPr id="20" name="Text 18"/>
          <p:cNvSpPr/>
          <p:nvPr/>
        </p:nvSpPr>
        <p:spPr>
          <a:xfrm>
            <a:off x="828675" y="5600700"/>
            <a:ext cx="4991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7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Когато кризата настъпи, хората не се нуждаят от сложни обяснения - те се нуждаят от ясни действия</a:t>
            </a:r>
            <a:endParaRPr lang="en-US" sz="1600" dirty="0"/>
          </a:p>
        </p:txBody>
      </p:sp>
      <p:pic>
        <p:nvPicPr>
          <p:cNvPr id="21" name="Image 0" descr="https://kimi-web-img.moonshot.cn/img/visitmybulgaria.com/3688dab0d42a042f3508eaf5e48a2f39de5cec14.jpeg"/>
          <p:cNvPicPr>
            <a:picLocks noChangeAspect="1"/>
          </p:cNvPicPr>
          <p:nvPr/>
        </p:nvPicPr>
        <p:blipFill>
          <a:blip r:embed="rId3">
            <a:alphaModFix amt="90000"/>
          </a:blip>
          <a:srcRect l="4995" r="4995"/>
          <a:stretch/>
        </p:blipFill>
        <p:spPr>
          <a:xfrm>
            <a:off x="6248400" y="381000"/>
            <a:ext cx="5562600" cy="4114800"/>
          </a:xfrm>
          <a:prstGeom prst="roundRect">
            <a:avLst>
              <a:gd name="adj" fmla="val 3704"/>
            </a:avLst>
          </a:prstGeom>
        </p:spPr>
      </p:pic>
      <p:sp>
        <p:nvSpPr>
          <p:cNvPr id="22" name="Shape 19"/>
          <p:cNvSpPr/>
          <p:nvPr/>
        </p:nvSpPr>
        <p:spPr>
          <a:xfrm>
            <a:off x="6248400" y="381000"/>
            <a:ext cx="5562600" cy="4114800"/>
          </a:xfrm>
          <a:custGeom>
            <a:avLst/>
            <a:gdLst/>
            <a:ahLst/>
            <a:cxnLst/>
            <a:rect l="l" t="t" r="r" b="b"/>
            <a:pathLst>
              <a:path w="5562600" h="4114800">
                <a:moveTo>
                  <a:pt x="0" y="0"/>
                </a:moveTo>
                <a:lnTo>
                  <a:pt x="5562600" y="0"/>
                </a:lnTo>
                <a:lnTo>
                  <a:pt x="55626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A4F41">
                  <a:alpha val="8000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23" name="Text 20"/>
          <p:cNvSpPr/>
          <p:nvPr/>
        </p:nvSpPr>
        <p:spPr>
          <a:xfrm>
            <a:off x="6477000" y="3714750"/>
            <a:ext cx="51911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8F7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Средната възраст в селата е 47.6 години - ръководствата са адаптирани за възрастното население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253163" y="4691063"/>
            <a:ext cx="2695575" cy="809625"/>
          </a:xfrm>
          <a:custGeom>
            <a:avLst/>
            <a:gdLst/>
            <a:ahLst/>
            <a:cxnLst/>
            <a:rect l="l" t="t" r="r" b="b"/>
            <a:pathLst>
              <a:path w="2695575" h="809625">
                <a:moveTo>
                  <a:pt x="114303" y="0"/>
                </a:moveTo>
                <a:lnTo>
                  <a:pt x="2581272" y="0"/>
                </a:lnTo>
                <a:cubicBezTo>
                  <a:pt x="2644358" y="0"/>
                  <a:pt x="2695575" y="51217"/>
                  <a:pt x="2695575" y="114303"/>
                </a:cubicBezTo>
                <a:lnTo>
                  <a:pt x="2695575" y="695322"/>
                </a:lnTo>
                <a:cubicBezTo>
                  <a:pt x="2695575" y="758408"/>
                  <a:pt x="2644358" y="809625"/>
                  <a:pt x="2581272" y="809625"/>
                </a:cubicBezTo>
                <a:lnTo>
                  <a:pt x="114303" y="809625"/>
                </a:lnTo>
                <a:cubicBezTo>
                  <a:pt x="51217" y="809625"/>
                  <a:pt x="0" y="758408"/>
                  <a:pt x="0" y="6953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C97B61">
              <a:alpha val="20000"/>
            </a:srgbClr>
          </a:solidFill>
          <a:ln w="12700">
            <a:solidFill>
              <a:srgbClr val="C97B61">
                <a:alpha val="40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438900" y="48482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14288"/>
                </a:moveTo>
                <a:cubicBezTo>
                  <a:pt x="228600" y="10001"/>
                  <a:pt x="226680" y="5938"/>
                  <a:pt x="223376" y="3259"/>
                </a:cubicBezTo>
                <a:cubicBezTo>
                  <a:pt x="220072" y="580"/>
                  <a:pt x="215697" y="-580"/>
                  <a:pt x="211500" y="268"/>
                </a:cubicBezTo>
                <a:lnTo>
                  <a:pt x="140062" y="14555"/>
                </a:lnTo>
                <a:cubicBezTo>
                  <a:pt x="134615" y="15672"/>
                  <a:pt x="130373" y="19779"/>
                  <a:pt x="129034" y="25003"/>
                </a:cubicBezTo>
                <a:lnTo>
                  <a:pt x="100013" y="25003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lnTo>
                  <a:pt x="71438" y="0"/>
                </a:lnTo>
                <a:cubicBezTo>
                  <a:pt x="63535" y="0"/>
                  <a:pt x="57150" y="6385"/>
                  <a:pt x="57150" y="14288"/>
                </a:cubicBezTo>
                <a:lnTo>
                  <a:pt x="57150" y="26968"/>
                </a:lnTo>
                <a:cubicBezTo>
                  <a:pt x="32459" y="32459"/>
                  <a:pt x="11921" y="49069"/>
                  <a:pt x="1116" y="71214"/>
                </a:cubicBezTo>
                <a:cubicBezTo>
                  <a:pt x="-1473" y="76527"/>
                  <a:pt x="714" y="82957"/>
                  <a:pt x="6072" y="85546"/>
                </a:cubicBezTo>
                <a:cubicBezTo>
                  <a:pt x="11430" y="88136"/>
                  <a:pt x="17815" y="85948"/>
                  <a:pt x="20404" y="80590"/>
                </a:cubicBezTo>
                <a:cubicBezTo>
                  <a:pt x="27682" y="65589"/>
                  <a:pt x="40987" y="54069"/>
                  <a:pt x="57150" y="49113"/>
                </a:cubicBezTo>
                <a:lnTo>
                  <a:pt x="57150" y="61972"/>
                </a:lnTo>
                <a:cubicBezTo>
                  <a:pt x="40273" y="70009"/>
                  <a:pt x="28575" y="87198"/>
                  <a:pt x="28575" y="107156"/>
                </a:cubicBezTo>
                <a:lnTo>
                  <a:pt x="28575" y="164306"/>
                </a:lnTo>
                <a:lnTo>
                  <a:pt x="128588" y="164306"/>
                </a:lnTo>
                <a:lnTo>
                  <a:pt x="128588" y="107156"/>
                </a:lnTo>
                <a:cubicBezTo>
                  <a:pt x="128588" y="87198"/>
                  <a:pt x="116890" y="70009"/>
                  <a:pt x="100013" y="61972"/>
                </a:cubicBezTo>
                <a:lnTo>
                  <a:pt x="100013" y="46434"/>
                </a:lnTo>
                <a:lnTo>
                  <a:pt x="129034" y="46434"/>
                </a:lnTo>
                <a:cubicBezTo>
                  <a:pt x="130373" y="51658"/>
                  <a:pt x="134615" y="55766"/>
                  <a:pt x="140062" y="56882"/>
                </a:cubicBezTo>
                <a:lnTo>
                  <a:pt x="211500" y="71170"/>
                </a:lnTo>
                <a:cubicBezTo>
                  <a:pt x="215697" y="72018"/>
                  <a:pt x="220028" y="70902"/>
                  <a:pt x="223376" y="68223"/>
                </a:cubicBezTo>
                <a:cubicBezTo>
                  <a:pt x="226725" y="65544"/>
                  <a:pt x="228600" y="61436"/>
                  <a:pt x="228600" y="57150"/>
                </a:cubicBezTo>
                <a:lnTo>
                  <a:pt x="228600" y="14288"/>
                </a:lnTo>
                <a:close/>
                <a:moveTo>
                  <a:pt x="128588" y="200025"/>
                </a:moveTo>
                <a:lnTo>
                  <a:pt x="128588" y="185738"/>
                </a:lnTo>
                <a:lnTo>
                  <a:pt x="28575" y="185738"/>
                </a:lnTo>
                <a:lnTo>
                  <a:pt x="28575" y="200025"/>
                </a:lnTo>
                <a:cubicBezTo>
                  <a:pt x="28575" y="215786"/>
                  <a:pt x="41389" y="228600"/>
                  <a:pt x="57150" y="228600"/>
                </a:cubicBezTo>
                <a:lnTo>
                  <a:pt x="100013" y="228600"/>
                </a:lnTo>
                <a:cubicBezTo>
                  <a:pt x="115773" y="228600"/>
                  <a:pt x="128588" y="215786"/>
                  <a:pt x="128588" y="200025"/>
                </a:cubicBezTo>
                <a:close/>
              </a:path>
            </a:pathLst>
          </a:custGeom>
          <a:solidFill>
            <a:srgbClr val="C97B61"/>
          </a:solidFill>
          <a:ln/>
        </p:spPr>
      </p:sp>
      <p:sp>
        <p:nvSpPr>
          <p:cNvPr id="26" name="Text 23"/>
          <p:cNvSpPr/>
          <p:nvPr/>
        </p:nvSpPr>
        <p:spPr>
          <a:xfrm>
            <a:off x="6410325" y="5153025"/>
            <a:ext cx="2447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7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При пожар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9110663" y="4691063"/>
            <a:ext cx="2695575" cy="809625"/>
          </a:xfrm>
          <a:custGeom>
            <a:avLst/>
            <a:gdLst/>
            <a:ahLst/>
            <a:cxnLst/>
            <a:rect l="l" t="t" r="r" b="b"/>
            <a:pathLst>
              <a:path w="2695575" h="809625">
                <a:moveTo>
                  <a:pt x="114303" y="0"/>
                </a:moveTo>
                <a:lnTo>
                  <a:pt x="2581272" y="0"/>
                </a:lnTo>
                <a:cubicBezTo>
                  <a:pt x="2644358" y="0"/>
                  <a:pt x="2695575" y="51217"/>
                  <a:pt x="2695575" y="114303"/>
                </a:cubicBezTo>
                <a:lnTo>
                  <a:pt x="2695575" y="695322"/>
                </a:lnTo>
                <a:cubicBezTo>
                  <a:pt x="2695575" y="758408"/>
                  <a:pt x="2644358" y="809625"/>
                  <a:pt x="2581272" y="809625"/>
                </a:cubicBezTo>
                <a:lnTo>
                  <a:pt x="114303" y="809625"/>
                </a:lnTo>
                <a:cubicBezTo>
                  <a:pt x="51217" y="809625"/>
                  <a:pt x="0" y="758408"/>
                  <a:pt x="0" y="6953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C97B61">
              <a:alpha val="20000"/>
            </a:srgbClr>
          </a:solidFill>
          <a:ln w="12700">
            <a:solidFill>
              <a:srgbClr val="C97B61">
                <a:alpha val="40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296400" y="48482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3326" y="55409"/>
                </a:moveTo>
                <a:cubicBezTo>
                  <a:pt x="192569" y="62374"/>
                  <a:pt x="203865" y="69116"/>
                  <a:pt x="216456" y="70812"/>
                </a:cubicBezTo>
                <a:cubicBezTo>
                  <a:pt x="222305" y="71616"/>
                  <a:pt x="227707" y="67464"/>
                  <a:pt x="228511" y="61615"/>
                </a:cubicBezTo>
                <a:cubicBezTo>
                  <a:pt x="229314" y="55766"/>
                  <a:pt x="225162" y="50363"/>
                  <a:pt x="219313" y="49560"/>
                </a:cubicBezTo>
                <a:cubicBezTo>
                  <a:pt x="212214" y="48622"/>
                  <a:pt x="204490" y="44514"/>
                  <a:pt x="196230" y="38308"/>
                </a:cubicBezTo>
                <a:cubicBezTo>
                  <a:pt x="179085" y="25360"/>
                  <a:pt x="155823" y="25360"/>
                  <a:pt x="138633" y="38308"/>
                </a:cubicBezTo>
                <a:cubicBezTo>
                  <a:pt x="127918" y="46390"/>
                  <a:pt x="120461" y="50051"/>
                  <a:pt x="114300" y="50051"/>
                </a:cubicBezTo>
                <a:cubicBezTo>
                  <a:pt x="108139" y="50051"/>
                  <a:pt x="100682" y="46390"/>
                  <a:pt x="89967" y="38308"/>
                </a:cubicBezTo>
                <a:cubicBezTo>
                  <a:pt x="72822" y="25360"/>
                  <a:pt x="49560" y="25360"/>
                  <a:pt x="32370" y="38308"/>
                </a:cubicBezTo>
                <a:cubicBezTo>
                  <a:pt x="24110" y="44514"/>
                  <a:pt x="16386" y="48622"/>
                  <a:pt x="9287" y="49560"/>
                </a:cubicBezTo>
                <a:cubicBezTo>
                  <a:pt x="3438" y="50363"/>
                  <a:pt x="-714" y="55721"/>
                  <a:pt x="89" y="61615"/>
                </a:cubicBezTo>
                <a:cubicBezTo>
                  <a:pt x="893" y="67508"/>
                  <a:pt x="6251" y="71616"/>
                  <a:pt x="12144" y="70812"/>
                </a:cubicBezTo>
                <a:cubicBezTo>
                  <a:pt x="24735" y="69116"/>
                  <a:pt x="36076" y="62374"/>
                  <a:pt x="45274" y="55409"/>
                </a:cubicBezTo>
                <a:cubicBezTo>
                  <a:pt x="54784" y="48220"/>
                  <a:pt x="67553" y="48220"/>
                  <a:pt x="77063" y="55409"/>
                </a:cubicBezTo>
                <a:cubicBezTo>
                  <a:pt x="87868" y="63579"/>
                  <a:pt x="100414" y="71438"/>
                  <a:pt x="114300" y="71438"/>
                </a:cubicBezTo>
                <a:cubicBezTo>
                  <a:pt x="128186" y="71438"/>
                  <a:pt x="140687" y="63535"/>
                  <a:pt x="151537" y="55409"/>
                </a:cubicBezTo>
                <a:cubicBezTo>
                  <a:pt x="161047" y="48220"/>
                  <a:pt x="173816" y="48220"/>
                  <a:pt x="183326" y="55409"/>
                </a:cubicBezTo>
                <a:close/>
                <a:moveTo>
                  <a:pt x="183326" y="119702"/>
                </a:moveTo>
                <a:cubicBezTo>
                  <a:pt x="192569" y="126668"/>
                  <a:pt x="203865" y="133410"/>
                  <a:pt x="216456" y="135106"/>
                </a:cubicBezTo>
                <a:cubicBezTo>
                  <a:pt x="222305" y="135910"/>
                  <a:pt x="227707" y="131758"/>
                  <a:pt x="228511" y="125909"/>
                </a:cubicBezTo>
                <a:cubicBezTo>
                  <a:pt x="229314" y="120060"/>
                  <a:pt x="225162" y="114657"/>
                  <a:pt x="219313" y="113854"/>
                </a:cubicBezTo>
                <a:cubicBezTo>
                  <a:pt x="212214" y="112916"/>
                  <a:pt x="204490" y="108808"/>
                  <a:pt x="196230" y="102602"/>
                </a:cubicBezTo>
                <a:cubicBezTo>
                  <a:pt x="179085" y="89654"/>
                  <a:pt x="155823" y="89654"/>
                  <a:pt x="138633" y="102602"/>
                </a:cubicBezTo>
                <a:cubicBezTo>
                  <a:pt x="127918" y="110683"/>
                  <a:pt x="120461" y="114345"/>
                  <a:pt x="114300" y="114345"/>
                </a:cubicBezTo>
                <a:cubicBezTo>
                  <a:pt x="108139" y="114345"/>
                  <a:pt x="100682" y="110683"/>
                  <a:pt x="89967" y="102602"/>
                </a:cubicBezTo>
                <a:cubicBezTo>
                  <a:pt x="72822" y="89654"/>
                  <a:pt x="49560" y="89654"/>
                  <a:pt x="32370" y="102602"/>
                </a:cubicBezTo>
                <a:cubicBezTo>
                  <a:pt x="24110" y="108808"/>
                  <a:pt x="16386" y="112916"/>
                  <a:pt x="9287" y="113854"/>
                </a:cubicBezTo>
                <a:cubicBezTo>
                  <a:pt x="3438" y="114613"/>
                  <a:pt x="-714" y="120015"/>
                  <a:pt x="89" y="125909"/>
                </a:cubicBezTo>
                <a:cubicBezTo>
                  <a:pt x="893" y="131802"/>
                  <a:pt x="6251" y="135910"/>
                  <a:pt x="12144" y="135106"/>
                </a:cubicBezTo>
                <a:cubicBezTo>
                  <a:pt x="24735" y="133410"/>
                  <a:pt x="36076" y="126668"/>
                  <a:pt x="45274" y="119702"/>
                </a:cubicBezTo>
                <a:cubicBezTo>
                  <a:pt x="54784" y="112514"/>
                  <a:pt x="67553" y="112514"/>
                  <a:pt x="77063" y="119702"/>
                </a:cubicBezTo>
                <a:cubicBezTo>
                  <a:pt x="87868" y="127873"/>
                  <a:pt x="100414" y="135731"/>
                  <a:pt x="114300" y="135731"/>
                </a:cubicBezTo>
                <a:cubicBezTo>
                  <a:pt x="128186" y="135731"/>
                  <a:pt x="140687" y="127828"/>
                  <a:pt x="151537" y="119702"/>
                </a:cubicBezTo>
                <a:cubicBezTo>
                  <a:pt x="161047" y="112514"/>
                  <a:pt x="173816" y="112514"/>
                  <a:pt x="183326" y="119702"/>
                </a:cubicBezTo>
                <a:close/>
                <a:moveTo>
                  <a:pt x="151537" y="183996"/>
                </a:moveTo>
                <a:cubicBezTo>
                  <a:pt x="161047" y="176808"/>
                  <a:pt x="173816" y="176808"/>
                  <a:pt x="183326" y="183996"/>
                </a:cubicBezTo>
                <a:cubicBezTo>
                  <a:pt x="192569" y="190961"/>
                  <a:pt x="203865" y="197703"/>
                  <a:pt x="216456" y="199400"/>
                </a:cubicBezTo>
                <a:cubicBezTo>
                  <a:pt x="222305" y="200204"/>
                  <a:pt x="227707" y="196051"/>
                  <a:pt x="228511" y="190202"/>
                </a:cubicBezTo>
                <a:cubicBezTo>
                  <a:pt x="229314" y="184353"/>
                  <a:pt x="225162" y="178951"/>
                  <a:pt x="219313" y="178147"/>
                </a:cubicBezTo>
                <a:cubicBezTo>
                  <a:pt x="212214" y="177210"/>
                  <a:pt x="204490" y="173102"/>
                  <a:pt x="196230" y="166896"/>
                </a:cubicBezTo>
                <a:cubicBezTo>
                  <a:pt x="179085" y="153948"/>
                  <a:pt x="155823" y="153948"/>
                  <a:pt x="138633" y="166896"/>
                </a:cubicBezTo>
                <a:cubicBezTo>
                  <a:pt x="127918" y="174977"/>
                  <a:pt x="120461" y="178638"/>
                  <a:pt x="114300" y="178638"/>
                </a:cubicBezTo>
                <a:cubicBezTo>
                  <a:pt x="108139" y="178638"/>
                  <a:pt x="100682" y="174977"/>
                  <a:pt x="89967" y="166896"/>
                </a:cubicBezTo>
                <a:cubicBezTo>
                  <a:pt x="72822" y="153948"/>
                  <a:pt x="49560" y="153948"/>
                  <a:pt x="32370" y="166896"/>
                </a:cubicBezTo>
                <a:cubicBezTo>
                  <a:pt x="24110" y="173102"/>
                  <a:pt x="16386" y="177210"/>
                  <a:pt x="9287" y="178147"/>
                </a:cubicBezTo>
                <a:cubicBezTo>
                  <a:pt x="3438" y="178951"/>
                  <a:pt x="-714" y="184309"/>
                  <a:pt x="89" y="190202"/>
                </a:cubicBezTo>
                <a:cubicBezTo>
                  <a:pt x="893" y="196096"/>
                  <a:pt x="6251" y="200204"/>
                  <a:pt x="12144" y="199400"/>
                </a:cubicBezTo>
                <a:cubicBezTo>
                  <a:pt x="24735" y="197703"/>
                  <a:pt x="36076" y="190961"/>
                  <a:pt x="45274" y="183996"/>
                </a:cubicBezTo>
                <a:cubicBezTo>
                  <a:pt x="54784" y="176808"/>
                  <a:pt x="67553" y="176808"/>
                  <a:pt x="77063" y="183996"/>
                </a:cubicBezTo>
                <a:cubicBezTo>
                  <a:pt x="87868" y="192167"/>
                  <a:pt x="100414" y="200025"/>
                  <a:pt x="114300" y="200025"/>
                </a:cubicBezTo>
                <a:cubicBezTo>
                  <a:pt x="128186" y="200025"/>
                  <a:pt x="140687" y="192122"/>
                  <a:pt x="151537" y="183996"/>
                </a:cubicBezTo>
                <a:close/>
              </a:path>
            </a:pathLst>
          </a:custGeom>
          <a:solidFill>
            <a:srgbClr val="C97B61"/>
          </a:solidFill>
          <a:ln/>
        </p:spPr>
      </p:sp>
      <p:sp>
        <p:nvSpPr>
          <p:cNvPr id="29" name="Text 26"/>
          <p:cNvSpPr/>
          <p:nvPr/>
        </p:nvSpPr>
        <p:spPr>
          <a:xfrm>
            <a:off x="9267825" y="5153025"/>
            <a:ext cx="2447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7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При наводнение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253163" y="5662613"/>
            <a:ext cx="2695575" cy="809625"/>
          </a:xfrm>
          <a:custGeom>
            <a:avLst/>
            <a:gdLst/>
            <a:ahLst/>
            <a:cxnLst/>
            <a:rect l="l" t="t" r="r" b="b"/>
            <a:pathLst>
              <a:path w="2695575" h="809625">
                <a:moveTo>
                  <a:pt x="114303" y="0"/>
                </a:moveTo>
                <a:lnTo>
                  <a:pt x="2581272" y="0"/>
                </a:lnTo>
                <a:cubicBezTo>
                  <a:pt x="2644358" y="0"/>
                  <a:pt x="2695575" y="51217"/>
                  <a:pt x="2695575" y="114303"/>
                </a:cubicBezTo>
                <a:lnTo>
                  <a:pt x="2695575" y="695322"/>
                </a:lnTo>
                <a:cubicBezTo>
                  <a:pt x="2695575" y="758408"/>
                  <a:pt x="2644358" y="809625"/>
                  <a:pt x="2581272" y="809625"/>
                </a:cubicBezTo>
                <a:lnTo>
                  <a:pt x="114303" y="809625"/>
                </a:lnTo>
                <a:cubicBezTo>
                  <a:pt x="51217" y="809625"/>
                  <a:pt x="0" y="758408"/>
                  <a:pt x="0" y="6953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C97B61">
              <a:alpha val="20000"/>
            </a:srgbClr>
          </a:solidFill>
          <a:ln w="12700">
            <a:solidFill>
              <a:srgbClr val="C97B61">
                <a:alpha val="40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438900" y="58197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4567" y="3840"/>
                </a:moveTo>
                <a:cubicBezTo>
                  <a:pt x="110058" y="-1250"/>
                  <a:pt x="118542" y="-1250"/>
                  <a:pt x="123989" y="3840"/>
                </a:cubicBezTo>
                <a:lnTo>
                  <a:pt x="164306" y="41211"/>
                </a:lnTo>
                <a:lnTo>
                  <a:pt x="164306" y="35719"/>
                </a:lnTo>
                <a:cubicBezTo>
                  <a:pt x="164306" y="27816"/>
                  <a:pt x="170691" y="21431"/>
                  <a:pt x="178594" y="21431"/>
                </a:cubicBezTo>
                <a:lnTo>
                  <a:pt x="192881" y="21431"/>
                </a:lnTo>
                <a:cubicBezTo>
                  <a:pt x="200784" y="21431"/>
                  <a:pt x="207169" y="27816"/>
                  <a:pt x="207169" y="35719"/>
                </a:cubicBezTo>
                <a:lnTo>
                  <a:pt x="207169" y="81037"/>
                </a:lnTo>
                <a:lnTo>
                  <a:pt x="224046" y="96709"/>
                </a:lnTo>
                <a:cubicBezTo>
                  <a:pt x="228332" y="100727"/>
                  <a:pt x="229761" y="106933"/>
                  <a:pt x="227618" y="112380"/>
                </a:cubicBezTo>
                <a:cubicBezTo>
                  <a:pt x="225475" y="117827"/>
                  <a:pt x="220206" y="121444"/>
                  <a:pt x="214313" y="121444"/>
                </a:cubicBezTo>
                <a:lnTo>
                  <a:pt x="207169" y="121444"/>
                </a:lnTo>
                <a:lnTo>
                  <a:pt x="207169" y="200025"/>
                </a:lnTo>
                <a:cubicBezTo>
                  <a:pt x="207169" y="215786"/>
                  <a:pt x="194355" y="228600"/>
                  <a:pt x="178594" y="228600"/>
                </a:cubicBezTo>
                <a:lnTo>
                  <a:pt x="131445" y="228600"/>
                </a:lnTo>
                <a:lnTo>
                  <a:pt x="114300" y="200025"/>
                </a:lnTo>
                <a:lnTo>
                  <a:pt x="150376" y="169977"/>
                </a:lnTo>
                <a:cubicBezTo>
                  <a:pt x="153859" y="167074"/>
                  <a:pt x="153769" y="161672"/>
                  <a:pt x="150197" y="158859"/>
                </a:cubicBezTo>
                <a:lnTo>
                  <a:pt x="97601" y="117515"/>
                </a:lnTo>
                <a:cubicBezTo>
                  <a:pt x="91083" y="112380"/>
                  <a:pt x="82510" y="120640"/>
                  <a:pt x="87422" y="127337"/>
                </a:cubicBezTo>
                <a:lnTo>
                  <a:pt x="114300" y="164306"/>
                </a:lnTo>
                <a:lnTo>
                  <a:pt x="76126" y="196096"/>
                </a:lnTo>
                <a:cubicBezTo>
                  <a:pt x="73402" y="198328"/>
                  <a:pt x="72777" y="202257"/>
                  <a:pt x="74563" y="205249"/>
                </a:cubicBezTo>
                <a:lnTo>
                  <a:pt x="88538" y="228555"/>
                </a:lnTo>
                <a:lnTo>
                  <a:pt x="49962" y="228555"/>
                </a:lnTo>
                <a:cubicBezTo>
                  <a:pt x="34201" y="228555"/>
                  <a:pt x="21387" y="215741"/>
                  <a:pt x="21387" y="199980"/>
                </a:cubicBezTo>
                <a:lnTo>
                  <a:pt x="21387" y="121399"/>
                </a:lnTo>
                <a:lnTo>
                  <a:pt x="14243" y="121399"/>
                </a:lnTo>
                <a:cubicBezTo>
                  <a:pt x="8349" y="121399"/>
                  <a:pt x="3081" y="117783"/>
                  <a:pt x="938" y="112335"/>
                </a:cubicBezTo>
                <a:cubicBezTo>
                  <a:pt x="-1206" y="106888"/>
                  <a:pt x="223" y="100638"/>
                  <a:pt x="4509" y="96664"/>
                </a:cubicBezTo>
                <a:lnTo>
                  <a:pt x="104522" y="3795"/>
                </a:lnTo>
                <a:close/>
              </a:path>
            </a:pathLst>
          </a:custGeom>
          <a:solidFill>
            <a:srgbClr val="C97B61"/>
          </a:solidFill>
          <a:ln/>
        </p:spPr>
      </p:sp>
      <p:sp>
        <p:nvSpPr>
          <p:cNvPr id="32" name="Text 29"/>
          <p:cNvSpPr/>
          <p:nvPr/>
        </p:nvSpPr>
        <p:spPr>
          <a:xfrm>
            <a:off x="6410325" y="6124575"/>
            <a:ext cx="2447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7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При земетресение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9110663" y="5662613"/>
            <a:ext cx="2695575" cy="809625"/>
          </a:xfrm>
          <a:custGeom>
            <a:avLst/>
            <a:gdLst/>
            <a:ahLst/>
            <a:cxnLst/>
            <a:rect l="l" t="t" r="r" b="b"/>
            <a:pathLst>
              <a:path w="2695575" h="809625">
                <a:moveTo>
                  <a:pt x="114303" y="0"/>
                </a:moveTo>
                <a:lnTo>
                  <a:pt x="2581272" y="0"/>
                </a:lnTo>
                <a:cubicBezTo>
                  <a:pt x="2644358" y="0"/>
                  <a:pt x="2695575" y="51217"/>
                  <a:pt x="2695575" y="114303"/>
                </a:cubicBezTo>
                <a:lnTo>
                  <a:pt x="2695575" y="695322"/>
                </a:lnTo>
                <a:cubicBezTo>
                  <a:pt x="2695575" y="758408"/>
                  <a:pt x="2644358" y="809625"/>
                  <a:pt x="2581272" y="809625"/>
                </a:cubicBezTo>
                <a:lnTo>
                  <a:pt x="114303" y="809625"/>
                </a:lnTo>
                <a:cubicBezTo>
                  <a:pt x="51217" y="809625"/>
                  <a:pt x="0" y="758408"/>
                  <a:pt x="0" y="6953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C97B61">
              <a:alpha val="20000"/>
            </a:srgbClr>
          </a:solidFill>
          <a:ln w="12700">
            <a:solidFill>
              <a:srgbClr val="C97B61">
                <a:alpha val="4000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296400" y="58197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12814" y="28575"/>
                  <a:pt x="0" y="41389"/>
                  <a:pt x="0" y="57150"/>
                </a:cubicBezTo>
                <a:lnTo>
                  <a:pt x="0" y="171450"/>
                </a:lnTo>
                <a:cubicBezTo>
                  <a:pt x="0" y="187211"/>
                  <a:pt x="12814" y="200025"/>
                  <a:pt x="28575" y="200025"/>
                </a:cubicBezTo>
                <a:lnTo>
                  <a:pt x="35719" y="200025"/>
                </a:lnTo>
                <a:lnTo>
                  <a:pt x="35719" y="28575"/>
                </a:lnTo>
                <a:lnTo>
                  <a:pt x="28575" y="28575"/>
                </a:lnTo>
                <a:close/>
                <a:moveTo>
                  <a:pt x="57150" y="28575"/>
                </a:moveTo>
                <a:lnTo>
                  <a:pt x="57150" y="200025"/>
                </a:lnTo>
                <a:lnTo>
                  <a:pt x="171450" y="200025"/>
                </a:lnTo>
                <a:lnTo>
                  <a:pt x="171450" y="28575"/>
                </a:lnTo>
                <a:lnTo>
                  <a:pt x="57150" y="28575"/>
                </a:lnTo>
                <a:close/>
                <a:moveTo>
                  <a:pt x="200025" y="200025"/>
                </a:moveTo>
                <a:cubicBezTo>
                  <a:pt x="215786" y="200025"/>
                  <a:pt x="228600" y="187211"/>
                  <a:pt x="228600" y="171450"/>
                </a:cubicBezTo>
                <a:lnTo>
                  <a:pt x="228600" y="57150"/>
                </a:lnTo>
                <a:cubicBezTo>
                  <a:pt x="228600" y="41389"/>
                  <a:pt x="215786" y="28575"/>
                  <a:pt x="200025" y="28575"/>
                </a:cubicBezTo>
                <a:lnTo>
                  <a:pt x="192881" y="28575"/>
                </a:lnTo>
                <a:lnTo>
                  <a:pt x="192881" y="200025"/>
                </a:lnTo>
                <a:lnTo>
                  <a:pt x="200025" y="200025"/>
                </a:lnTo>
                <a:close/>
                <a:moveTo>
                  <a:pt x="100013" y="82153"/>
                </a:moveTo>
                <a:cubicBezTo>
                  <a:pt x="100013" y="78224"/>
                  <a:pt x="103227" y="75009"/>
                  <a:pt x="107156" y="75009"/>
                </a:cubicBezTo>
                <a:lnTo>
                  <a:pt x="121444" y="75009"/>
                </a:lnTo>
                <a:cubicBezTo>
                  <a:pt x="125373" y="75009"/>
                  <a:pt x="128588" y="78224"/>
                  <a:pt x="128588" y="82153"/>
                </a:cubicBezTo>
                <a:lnTo>
                  <a:pt x="128588" y="100013"/>
                </a:lnTo>
                <a:lnTo>
                  <a:pt x="146447" y="100013"/>
                </a:lnTo>
                <a:cubicBezTo>
                  <a:pt x="150376" y="100013"/>
                  <a:pt x="153591" y="103227"/>
                  <a:pt x="153591" y="107156"/>
                </a:cubicBezTo>
                <a:lnTo>
                  <a:pt x="153591" y="121444"/>
                </a:lnTo>
                <a:cubicBezTo>
                  <a:pt x="153591" y="125373"/>
                  <a:pt x="150376" y="128588"/>
                  <a:pt x="146447" y="128588"/>
                </a:cubicBezTo>
                <a:lnTo>
                  <a:pt x="128588" y="128588"/>
                </a:lnTo>
                <a:lnTo>
                  <a:pt x="128588" y="146447"/>
                </a:lnTo>
                <a:cubicBezTo>
                  <a:pt x="128588" y="150376"/>
                  <a:pt x="125373" y="153591"/>
                  <a:pt x="121444" y="153591"/>
                </a:cubicBezTo>
                <a:lnTo>
                  <a:pt x="107156" y="153591"/>
                </a:lnTo>
                <a:cubicBezTo>
                  <a:pt x="103227" y="153591"/>
                  <a:pt x="100013" y="150376"/>
                  <a:pt x="100013" y="146447"/>
                </a:cubicBezTo>
                <a:lnTo>
                  <a:pt x="100013" y="128588"/>
                </a:lnTo>
                <a:lnTo>
                  <a:pt x="82153" y="128588"/>
                </a:lnTo>
                <a:cubicBezTo>
                  <a:pt x="78224" y="128588"/>
                  <a:pt x="75009" y="125373"/>
                  <a:pt x="75009" y="121444"/>
                </a:cubicBezTo>
                <a:lnTo>
                  <a:pt x="75009" y="107156"/>
                </a:lnTo>
                <a:cubicBezTo>
                  <a:pt x="75009" y="103227"/>
                  <a:pt x="78224" y="100013"/>
                  <a:pt x="82153" y="100013"/>
                </a:cubicBezTo>
                <a:lnTo>
                  <a:pt x="100013" y="100013"/>
                </a:lnTo>
                <a:lnTo>
                  <a:pt x="100013" y="82153"/>
                </a:lnTo>
                <a:close/>
              </a:path>
            </a:pathLst>
          </a:custGeom>
          <a:solidFill>
            <a:srgbClr val="C97B61"/>
          </a:solidFill>
          <a:ln/>
        </p:spPr>
      </p:sp>
      <p:sp>
        <p:nvSpPr>
          <p:cNvPr id="35" name="Text 32"/>
          <p:cNvSpPr/>
          <p:nvPr/>
        </p:nvSpPr>
        <p:spPr>
          <a:xfrm>
            <a:off x="9267825" y="6124575"/>
            <a:ext cx="2447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7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Първа помощ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A4F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nomadinternet.com/87d655c78b263f0fc8ca0884b15078f21e5029bd.png"/>
          <p:cNvPicPr>
            <a:picLocks noChangeAspect="1"/>
          </p:cNvPicPr>
          <p:nvPr/>
        </p:nvPicPr>
        <p:blipFill>
          <a:blip r:embed="rId3">
            <a:alphaModFix amt="30000"/>
          </a:blip>
          <a:srcRect l="25" r="2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A4F41">
                  <a:alpha val="95000"/>
                </a:srgbClr>
              </a:gs>
              <a:gs pos="50000">
                <a:srgbClr val="3A4F41">
                  <a:alpha val="90000"/>
                </a:srgbClr>
              </a:gs>
              <a:gs pos="100000">
                <a:srgbClr val="3A4F41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283696" y="690563"/>
            <a:ext cx="1628775" cy="381000"/>
          </a:xfrm>
          <a:custGeom>
            <a:avLst/>
            <a:gdLst/>
            <a:ahLst/>
            <a:cxnLst/>
            <a:rect l="l" t="t" r="r" b="b"/>
            <a:pathLst>
              <a:path w="1628775" h="381000">
                <a:moveTo>
                  <a:pt x="190500" y="0"/>
                </a:moveTo>
                <a:lnTo>
                  <a:pt x="1438275" y="0"/>
                </a:lnTo>
                <a:cubicBezTo>
                  <a:pt x="1543415" y="0"/>
                  <a:pt x="1628775" y="85360"/>
                  <a:pt x="1628775" y="190500"/>
                </a:cubicBezTo>
                <a:lnTo>
                  <a:pt x="1628775" y="190500"/>
                </a:lnTo>
                <a:cubicBezTo>
                  <a:pt x="1628775" y="295640"/>
                  <a:pt x="1543415" y="381000"/>
                  <a:pt x="1438275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97B61"/>
          </a:solidFill>
          <a:ln/>
        </p:spPr>
      </p:sp>
      <p:sp>
        <p:nvSpPr>
          <p:cNvPr id="5" name="Text 2"/>
          <p:cNvSpPr/>
          <p:nvPr/>
        </p:nvSpPr>
        <p:spPr>
          <a:xfrm>
            <a:off x="5436096" y="766763"/>
            <a:ext cx="1323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kern="0" spc="120" dirty="0">
                <a:solidFill>
                  <a:srgbClr val="F8F7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Вижте сами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295525" y="1300163"/>
            <a:ext cx="76009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F8F7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Готови ли сте да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F8F7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видите платформата?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381250" y="2881313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8F7F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Разгледайте демото и открийте как ResQ Village може да защити българските села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491930" y="3929063"/>
            <a:ext cx="3209925" cy="752475"/>
          </a:xfrm>
          <a:custGeom>
            <a:avLst/>
            <a:gdLst/>
            <a:ahLst/>
            <a:cxnLst/>
            <a:rect l="l" t="t" r="r" b="b"/>
            <a:pathLst>
              <a:path w="3209925" h="752475">
                <a:moveTo>
                  <a:pt x="152399" y="0"/>
                </a:moveTo>
                <a:lnTo>
                  <a:pt x="3057526" y="0"/>
                </a:lnTo>
                <a:cubicBezTo>
                  <a:pt x="3141694" y="0"/>
                  <a:pt x="3209925" y="68231"/>
                  <a:pt x="3209925" y="152399"/>
                </a:cubicBezTo>
                <a:lnTo>
                  <a:pt x="3209925" y="600076"/>
                </a:lnTo>
                <a:cubicBezTo>
                  <a:pt x="3209925" y="684244"/>
                  <a:pt x="3141694" y="752475"/>
                  <a:pt x="3057526" y="752475"/>
                </a:cubicBezTo>
                <a:lnTo>
                  <a:pt x="152399" y="752475"/>
                </a:lnTo>
                <a:cubicBezTo>
                  <a:pt x="68288" y="752475"/>
                  <a:pt x="0" y="684187"/>
                  <a:pt x="0" y="600076"/>
                </a:cubicBezTo>
                <a:lnTo>
                  <a:pt x="0" y="152399"/>
                </a:lnTo>
                <a:cubicBezTo>
                  <a:pt x="0" y="68288"/>
                  <a:pt x="68288" y="0"/>
                  <a:pt x="152399" y="0"/>
                </a:cubicBezTo>
                <a:close/>
              </a:path>
            </a:pathLst>
          </a:custGeom>
          <a:solidFill>
            <a:srgbClr val="C97B61"/>
          </a:solidFill>
          <a:ln/>
          <a:effectLst>
            <a:outerShdw blurRad="476250" dist="238125" dir="5400000" algn="bl" rotWithShape="0">
              <a:srgbClr val="000000">
                <a:alpha val="25098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987230" y="41624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142875"/>
                </a:moveTo>
                <a:cubicBezTo>
                  <a:pt x="0" y="64020"/>
                  <a:pt x="64020" y="0"/>
                  <a:pt x="142875" y="0"/>
                </a:cubicBez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lose/>
                <a:moveTo>
                  <a:pt x="105091" y="82097"/>
                </a:moveTo>
                <a:cubicBezTo>
                  <a:pt x="100850" y="84441"/>
                  <a:pt x="98227" y="88962"/>
                  <a:pt x="98227" y="93762"/>
                </a:cubicBezTo>
                <a:lnTo>
                  <a:pt x="98227" y="191988"/>
                </a:lnTo>
                <a:cubicBezTo>
                  <a:pt x="98227" y="196844"/>
                  <a:pt x="100850" y="201309"/>
                  <a:pt x="105091" y="203653"/>
                </a:cubicBezTo>
                <a:cubicBezTo>
                  <a:pt x="109333" y="205997"/>
                  <a:pt x="114467" y="205941"/>
                  <a:pt x="118653" y="203374"/>
                </a:cubicBezTo>
                <a:lnTo>
                  <a:pt x="199020" y="154260"/>
                </a:lnTo>
                <a:cubicBezTo>
                  <a:pt x="202983" y="151805"/>
                  <a:pt x="205439" y="147507"/>
                  <a:pt x="205439" y="142819"/>
                </a:cubicBezTo>
                <a:cubicBezTo>
                  <a:pt x="205439" y="138131"/>
                  <a:pt x="202983" y="133834"/>
                  <a:pt x="199020" y="131378"/>
                </a:cubicBezTo>
                <a:lnTo>
                  <a:pt x="118653" y="82265"/>
                </a:lnTo>
                <a:cubicBezTo>
                  <a:pt x="114523" y="79753"/>
                  <a:pt x="109333" y="79642"/>
                  <a:pt x="105091" y="81986"/>
                </a:cubicBezTo>
                <a:close/>
              </a:path>
            </a:pathLst>
          </a:custGeom>
          <a:solidFill>
            <a:srgbClr val="F8F7F4"/>
          </a:solidFill>
          <a:ln/>
        </p:spPr>
      </p:sp>
      <p:sp>
        <p:nvSpPr>
          <p:cNvPr id="10" name="Text 7"/>
          <p:cNvSpPr/>
          <p:nvPr/>
        </p:nvSpPr>
        <p:spPr>
          <a:xfrm>
            <a:off x="5401568" y="4157663"/>
            <a:ext cx="14573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8F7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Към демото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985695" y="4191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F8F7F4"/>
          </a:solidFill>
          <a:ln/>
        </p:spPr>
      </p:sp>
      <p:sp>
        <p:nvSpPr>
          <p:cNvPr id="12" name="Shape 9"/>
          <p:cNvSpPr/>
          <p:nvPr/>
        </p:nvSpPr>
        <p:spPr>
          <a:xfrm>
            <a:off x="2463998" y="5143500"/>
            <a:ext cx="2209800" cy="1019175"/>
          </a:xfrm>
          <a:custGeom>
            <a:avLst/>
            <a:gdLst/>
            <a:ahLst/>
            <a:cxnLst/>
            <a:rect l="l" t="t" r="r" b="b"/>
            <a:pathLst>
              <a:path w="2209800" h="1019175">
                <a:moveTo>
                  <a:pt x="114300" y="0"/>
                </a:moveTo>
                <a:lnTo>
                  <a:pt x="2095500" y="0"/>
                </a:lnTo>
                <a:cubicBezTo>
                  <a:pt x="2158626" y="0"/>
                  <a:pt x="2209800" y="51174"/>
                  <a:pt x="2209800" y="114300"/>
                </a:cubicBezTo>
                <a:lnTo>
                  <a:pt x="2209800" y="904875"/>
                </a:lnTo>
                <a:cubicBezTo>
                  <a:pt x="2209800" y="968001"/>
                  <a:pt x="2158626" y="1019175"/>
                  <a:pt x="2095500" y="1019175"/>
                </a:cubicBezTo>
                <a:lnTo>
                  <a:pt x="114300" y="1019175"/>
                </a:lnTo>
                <a:cubicBezTo>
                  <a:pt x="51174" y="1019175"/>
                  <a:pt x="0" y="968001"/>
                  <a:pt x="0" y="904875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8F7F4">
              <a:alpha val="10196"/>
            </a:srgbClr>
          </a:solidFill>
          <a:ln w="12700">
            <a:solidFill>
              <a:srgbClr val="F8F7F4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93579" y="5338763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321469" y="26789"/>
                </a:moveTo>
                <a:cubicBezTo>
                  <a:pt x="321469" y="20594"/>
                  <a:pt x="318288" y="14846"/>
                  <a:pt x="312986" y="11609"/>
                </a:cubicBezTo>
                <a:cubicBezTo>
                  <a:pt x="307684" y="8372"/>
                  <a:pt x="301154" y="8037"/>
                  <a:pt x="295628" y="10827"/>
                </a:cubicBezTo>
                <a:lnTo>
                  <a:pt x="230777" y="43253"/>
                </a:lnTo>
                <a:lnTo>
                  <a:pt x="130652" y="9823"/>
                </a:lnTo>
                <a:cubicBezTo>
                  <a:pt x="126132" y="8316"/>
                  <a:pt x="121276" y="8651"/>
                  <a:pt x="117035" y="10771"/>
                </a:cubicBezTo>
                <a:lnTo>
                  <a:pt x="45597" y="46490"/>
                </a:lnTo>
                <a:cubicBezTo>
                  <a:pt x="39514" y="49560"/>
                  <a:pt x="35719" y="55755"/>
                  <a:pt x="35719" y="62508"/>
                </a:cubicBezTo>
                <a:lnTo>
                  <a:pt x="35719" y="258961"/>
                </a:lnTo>
                <a:cubicBezTo>
                  <a:pt x="35719" y="265156"/>
                  <a:pt x="38900" y="270904"/>
                  <a:pt x="44202" y="274141"/>
                </a:cubicBezTo>
                <a:cubicBezTo>
                  <a:pt x="49504" y="277378"/>
                  <a:pt x="56034" y="277713"/>
                  <a:pt x="61559" y="274923"/>
                </a:cubicBezTo>
                <a:lnTo>
                  <a:pt x="126355" y="242497"/>
                </a:lnTo>
                <a:lnTo>
                  <a:pt x="223075" y="274755"/>
                </a:lnTo>
                <a:cubicBezTo>
                  <a:pt x="220675" y="271183"/>
                  <a:pt x="218331" y="267444"/>
                  <a:pt x="216043" y="263649"/>
                </a:cubicBezTo>
                <a:cubicBezTo>
                  <a:pt x="209903" y="253436"/>
                  <a:pt x="203820" y="241715"/>
                  <a:pt x="199299" y="229158"/>
                </a:cubicBezTo>
                <a:lnTo>
                  <a:pt x="142819" y="210350"/>
                </a:lnTo>
                <a:lnTo>
                  <a:pt x="142819" y="51569"/>
                </a:lnTo>
                <a:lnTo>
                  <a:pt x="214257" y="75400"/>
                </a:lnTo>
                <a:lnTo>
                  <a:pt x="214257" y="130820"/>
                </a:lnTo>
                <a:cubicBezTo>
                  <a:pt x="231558" y="110840"/>
                  <a:pt x="257231" y="98227"/>
                  <a:pt x="285694" y="98227"/>
                </a:cubicBezTo>
                <a:cubicBezTo>
                  <a:pt x="298307" y="98227"/>
                  <a:pt x="310362" y="100682"/>
                  <a:pt x="321413" y="105203"/>
                </a:cubicBezTo>
                <a:lnTo>
                  <a:pt x="321469" y="26789"/>
                </a:lnTo>
                <a:close/>
                <a:moveTo>
                  <a:pt x="285750" y="125016"/>
                </a:moveTo>
                <a:cubicBezTo>
                  <a:pt x="248748" y="125016"/>
                  <a:pt x="218777" y="154484"/>
                  <a:pt x="218777" y="190816"/>
                </a:cubicBezTo>
                <a:cubicBezTo>
                  <a:pt x="218777" y="229270"/>
                  <a:pt x="254552" y="274755"/>
                  <a:pt x="273807" y="296466"/>
                </a:cubicBezTo>
                <a:cubicBezTo>
                  <a:pt x="280281" y="303721"/>
                  <a:pt x="291275" y="303721"/>
                  <a:pt x="297749" y="296466"/>
                </a:cubicBezTo>
                <a:cubicBezTo>
                  <a:pt x="317004" y="274755"/>
                  <a:pt x="352778" y="229270"/>
                  <a:pt x="352778" y="190816"/>
                </a:cubicBezTo>
                <a:cubicBezTo>
                  <a:pt x="352778" y="154484"/>
                  <a:pt x="322808" y="125016"/>
                  <a:pt x="285806" y="125016"/>
                </a:cubicBezTo>
                <a:close/>
                <a:moveTo>
                  <a:pt x="263426" y="191988"/>
                </a:moveTo>
                <a:cubicBezTo>
                  <a:pt x="263426" y="179667"/>
                  <a:pt x="273429" y="169664"/>
                  <a:pt x="285750" y="169664"/>
                </a:cubicBezTo>
                <a:cubicBezTo>
                  <a:pt x="298071" y="169664"/>
                  <a:pt x="308074" y="179667"/>
                  <a:pt x="308074" y="191988"/>
                </a:cubicBezTo>
                <a:cubicBezTo>
                  <a:pt x="308074" y="204309"/>
                  <a:pt x="298071" y="214313"/>
                  <a:pt x="285750" y="214313"/>
                </a:cubicBezTo>
                <a:cubicBezTo>
                  <a:pt x="273429" y="214313"/>
                  <a:pt x="263426" y="204309"/>
                  <a:pt x="263426" y="191988"/>
                </a:cubicBezTo>
                <a:close/>
              </a:path>
            </a:pathLst>
          </a:custGeom>
          <a:solidFill>
            <a:srgbClr val="C97B61"/>
          </a:solidFill>
          <a:ln/>
        </p:spPr>
      </p:sp>
      <p:sp>
        <p:nvSpPr>
          <p:cNvPr id="14" name="Text 11"/>
          <p:cNvSpPr/>
          <p:nvPr/>
        </p:nvSpPr>
        <p:spPr>
          <a:xfrm>
            <a:off x="2621161" y="5738813"/>
            <a:ext cx="1895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8F7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Интерактивна карта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990058" y="5143500"/>
            <a:ext cx="2209800" cy="1019175"/>
          </a:xfrm>
          <a:custGeom>
            <a:avLst/>
            <a:gdLst/>
            <a:ahLst/>
            <a:cxnLst/>
            <a:rect l="l" t="t" r="r" b="b"/>
            <a:pathLst>
              <a:path w="2209800" h="1019175">
                <a:moveTo>
                  <a:pt x="114300" y="0"/>
                </a:moveTo>
                <a:lnTo>
                  <a:pt x="2095500" y="0"/>
                </a:lnTo>
                <a:cubicBezTo>
                  <a:pt x="2158626" y="0"/>
                  <a:pt x="2209800" y="51174"/>
                  <a:pt x="2209800" y="114300"/>
                </a:cubicBezTo>
                <a:lnTo>
                  <a:pt x="2209800" y="904875"/>
                </a:lnTo>
                <a:cubicBezTo>
                  <a:pt x="2209800" y="968001"/>
                  <a:pt x="2158626" y="1019175"/>
                  <a:pt x="2095500" y="1019175"/>
                </a:cubicBezTo>
                <a:lnTo>
                  <a:pt x="114300" y="1019175"/>
                </a:lnTo>
                <a:cubicBezTo>
                  <a:pt x="51174" y="1019175"/>
                  <a:pt x="0" y="968001"/>
                  <a:pt x="0" y="904875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8F7F4">
              <a:alpha val="10196"/>
            </a:srgbClr>
          </a:solidFill>
          <a:ln w="12700">
            <a:solidFill>
              <a:srgbClr val="F8F7F4">
                <a:alpha val="2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973217" y="5338763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25016" y="0"/>
                </a:moveTo>
                <a:cubicBezTo>
                  <a:pt x="115137" y="0"/>
                  <a:pt x="107156" y="7981"/>
                  <a:pt x="107156" y="17859"/>
                </a:cubicBezTo>
                <a:lnTo>
                  <a:pt x="107156" y="19645"/>
                </a:lnTo>
                <a:cubicBezTo>
                  <a:pt x="66415" y="27905"/>
                  <a:pt x="35719" y="63959"/>
                  <a:pt x="35719" y="107156"/>
                </a:cubicBezTo>
                <a:lnTo>
                  <a:pt x="35719" y="119267"/>
                </a:lnTo>
                <a:cubicBezTo>
                  <a:pt x="35719" y="146112"/>
                  <a:pt x="26566" y="172176"/>
                  <a:pt x="9823" y="193160"/>
                </a:cubicBezTo>
                <a:lnTo>
                  <a:pt x="4353" y="199969"/>
                </a:lnTo>
                <a:cubicBezTo>
                  <a:pt x="1507" y="203485"/>
                  <a:pt x="0" y="207838"/>
                  <a:pt x="0" y="212359"/>
                </a:cubicBezTo>
                <a:cubicBezTo>
                  <a:pt x="0" y="223298"/>
                  <a:pt x="8874" y="232172"/>
                  <a:pt x="19813" y="232172"/>
                </a:cubicBezTo>
                <a:lnTo>
                  <a:pt x="230163" y="232172"/>
                </a:lnTo>
                <a:cubicBezTo>
                  <a:pt x="241102" y="232172"/>
                  <a:pt x="249975" y="223298"/>
                  <a:pt x="249975" y="212359"/>
                </a:cubicBezTo>
                <a:cubicBezTo>
                  <a:pt x="249975" y="207838"/>
                  <a:pt x="248469" y="203485"/>
                  <a:pt x="245622" y="199969"/>
                </a:cubicBezTo>
                <a:lnTo>
                  <a:pt x="240153" y="193160"/>
                </a:lnTo>
                <a:cubicBezTo>
                  <a:pt x="223465" y="172176"/>
                  <a:pt x="214313" y="146112"/>
                  <a:pt x="214313" y="119267"/>
                </a:cubicBezTo>
                <a:lnTo>
                  <a:pt x="214313" y="107156"/>
                </a:lnTo>
                <a:cubicBezTo>
                  <a:pt x="214313" y="63959"/>
                  <a:pt x="183617" y="27905"/>
                  <a:pt x="142875" y="19645"/>
                </a:cubicBezTo>
                <a:lnTo>
                  <a:pt x="142875" y="17859"/>
                </a:lnTo>
                <a:cubicBezTo>
                  <a:pt x="142875" y="7981"/>
                  <a:pt x="134894" y="0"/>
                  <a:pt x="125016" y="0"/>
                </a:cubicBezTo>
                <a:close/>
                <a:moveTo>
                  <a:pt x="90413" y="258961"/>
                </a:moveTo>
                <a:cubicBezTo>
                  <a:pt x="94376" y="274365"/>
                  <a:pt x="108384" y="285750"/>
                  <a:pt x="125016" y="285750"/>
                </a:cubicBezTo>
                <a:cubicBezTo>
                  <a:pt x="141647" y="285750"/>
                  <a:pt x="155656" y="274365"/>
                  <a:pt x="159618" y="258961"/>
                </a:cubicBezTo>
                <a:lnTo>
                  <a:pt x="90413" y="258961"/>
                </a:lnTo>
                <a:close/>
              </a:path>
            </a:pathLst>
          </a:custGeom>
          <a:solidFill>
            <a:srgbClr val="C97B61"/>
          </a:solidFill>
          <a:ln/>
        </p:spPr>
      </p:sp>
      <p:sp>
        <p:nvSpPr>
          <p:cNvPr id="17" name="Text 14"/>
          <p:cNvSpPr/>
          <p:nvPr/>
        </p:nvSpPr>
        <p:spPr>
          <a:xfrm>
            <a:off x="5147221" y="5738813"/>
            <a:ext cx="1895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8F7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Ранно предупреждение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516118" y="5143500"/>
            <a:ext cx="2209800" cy="1019175"/>
          </a:xfrm>
          <a:custGeom>
            <a:avLst/>
            <a:gdLst/>
            <a:ahLst/>
            <a:cxnLst/>
            <a:rect l="l" t="t" r="r" b="b"/>
            <a:pathLst>
              <a:path w="2209800" h="1019175">
                <a:moveTo>
                  <a:pt x="114300" y="0"/>
                </a:moveTo>
                <a:lnTo>
                  <a:pt x="2095500" y="0"/>
                </a:lnTo>
                <a:cubicBezTo>
                  <a:pt x="2158626" y="0"/>
                  <a:pt x="2209800" y="51174"/>
                  <a:pt x="2209800" y="114300"/>
                </a:cubicBezTo>
                <a:lnTo>
                  <a:pt x="2209800" y="904875"/>
                </a:lnTo>
                <a:cubicBezTo>
                  <a:pt x="2209800" y="968001"/>
                  <a:pt x="2158626" y="1019175"/>
                  <a:pt x="2095500" y="1019175"/>
                </a:cubicBezTo>
                <a:lnTo>
                  <a:pt x="114300" y="1019175"/>
                </a:lnTo>
                <a:cubicBezTo>
                  <a:pt x="51174" y="1019175"/>
                  <a:pt x="0" y="968001"/>
                  <a:pt x="0" y="904875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8F7F4">
              <a:alpha val="10196"/>
            </a:srgbClr>
          </a:solidFill>
          <a:ln w="12700">
            <a:solidFill>
              <a:srgbClr val="F8F7F4">
                <a:alpha val="2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481417" y="533876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60220"/>
                </a:moveTo>
                <a:lnTo>
                  <a:pt x="134503" y="48611"/>
                </a:lnTo>
                <a:cubicBezTo>
                  <a:pt x="120551" y="29301"/>
                  <a:pt x="98171" y="17859"/>
                  <a:pt x="74284" y="17859"/>
                </a:cubicBezTo>
                <a:cubicBezTo>
                  <a:pt x="33263" y="17859"/>
                  <a:pt x="0" y="51122"/>
                  <a:pt x="0" y="92143"/>
                </a:cubicBezTo>
                <a:lnTo>
                  <a:pt x="0" y="93594"/>
                </a:lnTo>
                <a:cubicBezTo>
                  <a:pt x="0" y="106766"/>
                  <a:pt x="3460" y="120383"/>
                  <a:pt x="9265" y="133945"/>
                </a:cubicBezTo>
                <a:lnTo>
                  <a:pt x="68424" y="133945"/>
                </a:lnTo>
                <a:cubicBezTo>
                  <a:pt x="70210" y="133945"/>
                  <a:pt x="71828" y="132885"/>
                  <a:pt x="72554" y="131211"/>
                </a:cubicBezTo>
                <a:lnTo>
                  <a:pt x="90301" y="88627"/>
                </a:lnTo>
                <a:cubicBezTo>
                  <a:pt x="92366" y="83716"/>
                  <a:pt x="97166" y="80479"/>
                  <a:pt x="102468" y="80367"/>
                </a:cubicBezTo>
                <a:cubicBezTo>
                  <a:pt x="107770" y="80256"/>
                  <a:pt x="112681" y="83381"/>
                  <a:pt x="114858" y="88236"/>
                </a:cubicBezTo>
                <a:lnTo>
                  <a:pt x="143489" y="151805"/>
                </a:lnTo>
                <a:lnTo>
                  <a:pt x="166594" y="105594"/>
                </a:lnTo>
                <a:cubicBezTo>
                  <a:pt x="168883" y="101073"/>
                  <a:pt x="173515" y="98171"/>
                  <a:pt x="178594" y="98171"/>
                </a:cubicBezTo>
                <a:cubicBezTo>
                  <a:pt x="183673" y="98171"/>
                  <a:pt x="188305" y="101017"/>
                  <a:pt x="190593" y="105594"/>
                </a:cubicBezTo>
                <a:lnTo>
                  <a:pt x="203541" y="131434"/>
                </a:lnTo>
                <a:cubicBezTo>
                  <a:pt x="204322" y="132941"/>
                  <a:pt x="205829" y="133890"/>
                  <a:pt x="207559" y="133890"/>
                </a:cubicBezTo>
                <a:lnTo>
                  <a:pt x="276541" y="133890"/>
                </a:lnTo>
                <a:cubicBezTo>
                  <a:pt x="282401" y="120328"/>
                  <a:pt x="285806" y="106710"/>
                  <a:pt x="285806" y="93538"/>
                </a:cubicBezTo>
                <a:lnTo>
                  <a:pt x="285806" y="92087"/>
                </a:lnTo>
                <a:cubicBezTo>
                  <a:pt x="285750" y="51122"/>
                  <a:pt x="252487" y="17859"/>
                  <a:pt x="211466" y="17859"/>
                </a:cubicBezTo>
                <a:cubicBezTo>
                  <a:pt x="187635" y="17859"/>
                  <a:pt x="165199" y="29301"/>
                  <a:pt x="151247" y="48611"/>
                </a:cubicBezTo>
                <a:lnTo>
                  <a:pt x="142875" y="60164"/>
                </a:lnTo>
                <a:close/>
                <a:moveTo>
                  <a:pt x="262086" y="160734"/>
                </a:moveTo>
                <a:lnTo>
                  <a:pt x="207504" y="160734"/>
                </a:lnTo>
                <a:cubicBezTo>
                  <a:pt x="195672" y="160734"/>
                  <a:pt x="184845" y="154037"/>
                  <a:pt x="179543" y="143433"/>
                </a:cubicBezTo>
                <a:lnTo>
                  <a:pt x="178594" y="141536"/>
                </a:lnTo>
                <a:lnTo>
                  <a:pt x="154874" y="189030"/>
                </a:lnTo>
                <a:cubicBezTo>
                  <a:pt x="152586" y="193663"/>
                  <a:pt x="147786" y="196565"/>
                  <a:pt x="142596" y="196453"/>
                </a:cubicBezTo>
                <a:cubicBezTo>
                  <a:pt x="137406" y="196342"/>
                  <a:pt x="132773" y="193272"/>
                  <a:pt x="130652" y="188584"/>
                </a:cubicBezTo>
                <a:lnTo>
                  <a:pt x="103138" y="127471"/>
                </a:lnTo>
                <a:lnTo>
                  <a:pt x="97278" y="141536"/>
                </a:lnTo>
                <a:cubicBezTo>
                  <a:pt x="92422" y="153200"/>
                  <a:pt x="81037" y="160790"/>
                  <a:pt x="68424" y="160790"/>
                </a:cubicBezTo>
                <a:lnTo>
                  <a:pt x="23664" y="160790"/>
                </a:lnTo>
                <a:cubicBezTo>
                  <a:pt x="50006" y="201978"/>
                  <a:pt x="92311" y="239874"/>
                  <a:pt x="118765" y="260077"/>
                </a:cubicBezTo>
                <a:cubicBezTo>
                  <a:pt x="125685" y="265323"/>
                  <a:pt x="134169" y="267946"/>
                  <a:pt x="142819" y="267946"/>
                </a:cubicBezTo>
                <a:cubicBezTo>
                  <a:pt x="151470" y="267946"/>
                  <a:pt x="160009" y="265379"/>
                  <a:pt x="166874" y="260077"/>
                </a:cubicBezTo>
                <a:cubicBezTo>
                  <a:pt x="193439" y="239818"/>
                  <a:pt x="235744" y="201923"/>
                  <a:pt x="262086" y="160734"/>
                </a:cubicBezTo>
                <a:close/>
              </a:path>
            </a:pathLst>
          </a:custGeom>
          <a:solidFill>
            <a:srgbClr val="C97B61"/>
          </a:solidFill>
          <a:ln/>
        </p:spPr>
      </p:sp>
      <p:sp>
        <p:nvSpPr>
          <p:cNvPr id="20" name="Text 17"/>
          <p:cNvSpPr/>
          <p:nvPr/>
        </p:nvSpPr>
        <p:spPr>
          <a:xfrm>
            <a:off x="7673280" y="5738813"/>
            <a:ext cx="1895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8F7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Медицинска логистика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480</Words>
  <Application>Microsoft Macintosh PowerPoint</Application>
  <PresentationFormat>Widescreen</PresentationFormat>
  <Paragraphs>114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Hedvig Letters Sans</vt:lpstr>
      <vt:lpstr>MiSans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ResQ Village - Дигитален щит за българските села</dc:title>
  <dc:subject>ResQ Village - Дигитален щит за българските села</dc:subject>
  <dc:creator>Kimi</dc:creator>
  <cp:lastModifiedBy>Vladimir Milanov</cp:lastModifiedBy>
  <cp:revision>2</cp:revision>
  <dcterms:created xsi:type="dcterms:W3CDTF">2026-03-27T11:04:38Z</dcterms:created>
  <dcterms:modified xsi:type="dcterms:W3CDTF">2026-03-27T11:09:19Z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{"Label":"ResQ Village - Дигитален щит за българските села","ContentProducer":"001191110108MACG2KBH8F10000","ProduceID":"19d2eefc-6e02-84d9-8000-000045ecebb4","ReservedCode1":"","ContentPropagator":"001191110108MACG2KBH8F20000","PropagateID":"19d2eefc-6e02-84d9-8000-000045ecebb4","ReservedCode2":""}</vt:lpwstr>
  </property>
</Properties>
</file>